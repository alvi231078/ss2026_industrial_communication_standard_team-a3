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7D5190-2E0F-4E0C-97F8-179FE8E75578}" v="95" dt="2026-07-01T01:41:49.1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vl1pPr>
          </a:lstStyle>
          <a:p>
            <a:fld id="{0AE8BE99-F0CB-4CF9-9E7C-5110A022E1B8}" type="datetimeFigureOut">
              <a:t>30/06/2026</a:t>
            </a:fld>
            <a:endParaRPr lang="en-GB"/>
          </a:p>
        </p:txBody>
      </p:sp>
      <p:sp>
        <p:nvSpPr>
          <p:cNvPr id="4" name="Slide Image Placeholder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vl1pPr>
          </a:lstStyle>
          <a:p>
            <a:fld id="{0A3C96B3-E2AB-4359-B502-C100E15094F6}" type="slidenum">
              <a:t>‹#›</a:t>
            </a:fld>
            <a:endParaRPr lang="en-GB"/>
          </a:p>
        </p:txBody>
      </p:sp>
    </p:spTree>
    <p:extLst>
      <p:ext uri="{BB962C8B-B14F-4D97-AF65-F5344CB8AC3E}">
        <p14:creationId xmlns:p14="http://schemas.microsoft.com/office/powerpoint/2010/main" val="1995269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IO-Link as the smart last meter: not a fieldbus, but a digital point-to-point connection for the final sensor or actuator link. Mention that the seminar evaluates architecture, smart-device functions, and a packaging-cell use case.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contrast is not speed. The key contrast is information. A standard binary sensor can tell the PLC that something changed, but not what device it is, how it is configured, or why it failed. IO-Link adds a structured device channel while retaining familiar 24 V wiring.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boundary: IO-Link sits between the device and the IO-Link master. The PLC still communicates through the plant fieldbus. IO-Link enriches the device side of that architecture.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prevent confusion with fieldbuses. The IO-Link master is the bridge: upstream it speaks a fieldbus, downstream it manages point-to-point device links.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 and L- provide the 24 V supply. C/Q is the communication/switching line. SIO compatibility matters because an IO-Link device can behave like a standard switching sensor until IO-Link communication is established. Mention Class B when actuators need a separate power path.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Cyclic data is the real-time process channel. Acyclic data is the engineering and diagnostic channel. Both are important: process values run continuously while parameter reads, writes, and event messages remain available.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IODD is the translation layer for humans and engineering tools. It defines how the master and software interpret parameters, process data, limits, and event codes. The most practical benefit is faster commissioning and replacement.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packaging cell as a concrete mental model. Each field device gets its own IO-Link port. The master aggregates the device links and connects to the PLC/HMI over PROFINET. The value is not only process data, but also traceability, remote changeover, and readable diagnostics.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evaluation basis: standards and requirements, not lab measurements. This avoids overstating results. The timing slide is a chain estimate, not a benchmark. Port budget is intentionally scored lower because IO-Link uses one master port per device.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chart as an illustrative chain model. COM1 misses the 10 ms target. COM2 and COM3 meet it alone, but the PLC scan and fieldbus update must be included in the real budget. Do not present these as measured values from a test bench.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practical selection summary. Digital I/O is still fine when only a fixed on/off signal is needed. 4-20 mA remains useful for simple continuous values. Choose IO-Link when diagnostics, remote parameterization, traceability, or replacement speed matter more than the cheapest port.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boundary: IO-Link does not replace the plant fieldbus. Its strength is making the final device link visible, diagnosable, and easier to maintain. Invite questions about the packaging-cell example, timing assumptions, or master-port planning.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8000">
                <a:srgbClr val="EEF7FF">
                  <a:alpha val="100000"/>
                </a:srgbClr>
              </a:gs>
              <a:gs pos="100000">
                <a:srgbClr val="E9FBF7">
                  <a:alpha val="100000"/>
                </a:srgbClr>
              </a:gs>
            </a:gsLst>
            <a:lin ang="3600000" scaled="0"/>
          </a:gradFill>
          <a:ln/>
        </p:spPr>
      </p:sp>
      <p:sp>
        <p:nvSpPr>
          <p:cNvPr id="3" name="Shape 1"/>
          <p:cNvSpPr/>
          <p:nvPr/>
        </p:nvSpPr>
        <p:spPr>
          <a:xfrm>
            <a:off x="13906500" y="-1714500"/>
            <a:ext cx="5905500" cy="5905500"/>
          </a:xfrm>
          <a:prstGeom prst="ellipse">
            <a:avLst/>
          </a:prstGeom>
          <a:solidFill>
            <a:srgbClr val="C7F4EB">
              <a:alpha val="45000"/>
            </a:srgbClr>
          </a:solidFill>
          <a:ln/>
        </p:spPr>
      </p:sp>
      <p:sp>
        <p:nvSpPr>
          <p:cNvPr id="4" name="Shape 2"/>
          <p:cNvSpPr/>
          <p:nvPr/>
        </p:nvSpPr>
        <p:spPr>
          <a:xfrm>
            <a:off x="11049000" y="8382000"/>
            <a:ext cx="4000500" cy="4000500"/>
          </a:xfrm>
          <a:prstGeom prst="ellipse">
            <a:avLst/>
          </a:prstGeom>
          <a:solidFill>
            <a:srgbClr val="D7E8FF">
              <a:alpha val="40000"/>
            </a:srgbClr>
          </a:solidFill>
          <a:ln/>
        </p:spPr>
      </p:sp>
      <p:sp>
        <p:nvSpPr>
          <p:cNvPr id="5" name="Text 3"/>
          <p:cNvSpPr/>
          <p:nvPr/>
        </p:nvSpPr>
        <p:spPr>
          <a:xfrm>
            <a:off x="1047750" y="914400"/>
            <a:ext cx="17811750" cy="333375"/>
          </a:xfrm>
          <a:prstGeom prst="rect">
            <a:avLst/>
          </a:prstGeom>
          <a:noFill/>
          <a:ln/>
        </p:spPr>
        <p:txBody>
          <a:bodyPr wrap="square" lIns="25400" tIns="25400" rIns="25400" bIns="25400" rtlCol="0" anchor="t">
            <a:normAutofit/>
          </a:bodyPr>
          <a:lstStyle/>
          <a:p>
            <a:pPr marL="0" indent="0" algn="l">
              <a:buNone/>
            </a:pPr>
            <a:r>
              <a:rPr lang="en-US" sz="1800" kern="0" spc="375" dirty="0">
                <a:solidFill>
                  <a:srgbClr val="0E7C71"/>
                </a:solidFill>
                <a:latin typeface="Courier New" pitchFamily="34" charset="0"/>
                <a:ea typeface="Courier New" pitchFamily="34" charset="-122"/>
                <a:cs typeface="Courier New" pitchFamily="34" charset="-120"/>
              </a:rPr>
              <a:t>IEC 61131-9 · SDCI</a:t>
            </a:r>
            <a:endParaRPr lang="en-US" sz="1800" dirty="0"/>
          </a:p>
        </p:txBody>
      </p:sp>
      <p:sp>
        <p:nvSpPr>
          <p:cNvPr id="6" name="Text 4"/>
          <p:cNvSpPr/>
          <p:nvPr/>
        </p:nvSpPr>
        <p:spPr>
          <a:xfrm>
            <a:off x="1047750" y="3632299"/>
            <a:ext cx="8641727" cy="1452711"/>
          </a:xfrm>
          <a:prstGeom prst="rect">
            <a:avLst/>
          </a:prstGeom>
          <a:noFill/>
          <a:ln/>
        </p:spPr>
        <p:txBody>
          <a:bodyPr wrap="square" lIns="25400" tIns="25400" rIns="25400" bIns="25400" rtlCol="0" anchor="t">
            <a:normAutofit/>
          </a:bodyPr>
          <a:lstStyle/>
          <a:p>
            <a:pPr marL="0" indent="0" algn="l">
              <a:lnSpc>
                <a:spcPct val="94000"/>
              </a:lnSpc>
              <a:buNone/>
            </a:pPr>
            <a:r>
              <a:rPr lang="en-US" sz="11850" b="1" kern="0" spc="-375" dirty="0">
                <a:solidFill>
                  <a:srgbClr val="102033"/>
                </a:solidFill>
                <a:latin typeface="Arial" pitchFamily="34" charset="0"/>
                <a:ea typeface="Arial" pitchFamily="34" charset="-122"/>
                <a:cs typeface="Arial" pitchFamily="34" charset="-120"/>
              </a:rPr>
              <a:t>IO‑Link</a:t>
            </a:r>
            <a:endParaRPr lang="en-US" sz="11850" dirty="0"/>
          </a:p>
        </p:txBody>
      </p:sp>
      <p:sp>
        <p:nvSpPr>
          <p:cNvPr id="7" name="Text 5"/>
          <p:cNvSpPr/>
          <p:nvPr/>
        </p:nvSpPr>
        <p:spPr>
          <a:xfrm>
            <a:off x="1047750" y="5370761"/>
            <a:ext cx="7259955" cy="998190"/>
          </a:xfrm>
          <a:prstGeom prst="rect">
            <a:avLst/>
          </a:prstGeom>
          <a:noFill/>
          <a:ln/>
        </p:spPr>
        <p:txBody>
          <a:bodyPr wrap="square" lIns="25400" tIns="25400" rIns="25400" bIns="25400" rtlCol="0" anchor="t">
            <a:normAutofit/>
          </a:bodyPr>
          <a:lstStyle/>
          <a:p>
            <a:pPr marL="0" indent="0" algn="l">
              <a:lnSpc>
                <a:spcPct val="140000"/>
              </a:lnSpc>
              <a:buNone/>
            </a:pPr>
            <a:r>
              <a:rPr lang="en-US" sz="2700" dirty="0">
                <a:solidFill>
                  <a:srgbClr val="3A4759"/>
                </a:solidFill>
                <a:latin typeface="Arial" pitchFamily="34" charset="0"/>
                <a:ea typeface="Arial" pitchFamily="34" charset="-122"/>
                <a:cs typeface="Arial" pitchFamily="34" charset="-120"/>
              </a:rPr>
              <a:t>Smart last‑meter architecture for sensors, actuators, diagnostics, and fast replacement.</a:t>
            </a:r>
            <a:endParaRPr lang="en-US" sz="2700" dirty="0"/>
          </a:p>
        </p:txBody>
      </p:sp>
      <p:sp>
        <p:nvSpPr>
          <p:cNvPr id="8" name="Shape 6"/>
          <p:cNvSpPr/>
          <p:nvPr/>
        </p:nvSpPr>
        <p:spPr>
          <a:xfrm>
            <a:off x="9589666" y="3198019"/>
            <a:ext cx="7650584" cy="3567113"/>
          </a:xfrm>
          <a:prstGeom prst="roundRect">
            <a:avLst>
              <a:gd name="adj" fmla="val 5874"/>
            </a:avLst>
          </a:prstGeom>
          <a:solidFill>
            <a:srgbClr val="FFFFFF"/>
          </a:solidFill>
          <a:ln w="9525">
            <a:solidFill>
              <a:srgbClr val="DCE4ED"/>
            </a:solidFill>
            <a:prstDash val="solid"/>
          </a:ln>
          <a:effectLst>
            <a:outerShdw blurRad="666750" dist="285750" dir="5400000" algn="bl" rotWithShape="0">
              <a:srgbClr val="102033">
                <a:alpha val="35000"/>
              </a:srgbClr>
            </a:outerShdw>
          </a:effectLst>
        </p:spPr>
      </p:sp>
      <p:sp>
        <p:nvSpPr>
          <p:cNvPr id="9" name="Text 7"/>
          <p:cNvSpPr/>
          <p:nvPr/>
        </p:nvSpPr>
        <p:spPr>
          <a:xfrm>
            <a:off x="9999241" y="3588544"/>
            <a:ext cx="7514578" cy="333375"/>
          </a:xfrm>
          <a:prstGeom prst="rect">
            <a:avLst/>
          </a:prstGeom>
          <a:noFill/>
          <a:ln/>
        </p:spPr>
        <p:txBody>
          <a:bodyPr wrap="square" lIns="25400" tIns="25400" rIns="25400" bIns="25400" rtlCol="0" anchor="t">
            <a:normAutofit/>
          </a:bodyPr>
          <a:lstStyle/>
          <a:p>
            <a:pPr marL="0" indent="0" algn="l">
              <a:buNone/>
            </a:pPr>
            <a:r>
              <a:rPr lang="en-US" sz="1800" kern="0" spc="225" dirty="0">
                <a:solidFill>
                  <a:srgbClr val="0E7C71"/>
                </a:solidFill>
                <a:latin typeface="Courier New" pitchFamily="34" charset="0"/>
                <a:ea typeface="Courier New" pitchFamily="34" charset="-122"/>
                <a:cs typeface="Courier New" pitchFamily="34" charset="-120"/>
              </a:rPr>
              <a:t>3-WIRE LINK</a:t>
            </a:r>
            <a:endParaRPr lang="en-US" sz="1800" dirty="0"/>
          </a:p>
        </p:txBody>
      </p:sp>
      <p:sp>
        <p:nvSpPr>
          <p:cNvPr id="10" name="Text 8"/>
          <p:cNvSpPr/>
          <p:nvPr/>
        </p:nvSpPr>
        <p:spPr>
          <a:xfrm>
            <a:off x="9999241" y="4131469"/>
            <a:ext cx="819150" cy="404813"/>
          </a:xfrm>
          <a:prstGeom prst="rect">
            <a:avLst/>
          </a:prstGeom>
          <a:noFill/>
          <a:ln/>
        </p:spPr>
        <p:txBody>
          <a:bodyPr wrap="square" lIns="25400" tIns="25400" rIns="25400" bIns="25400" rtlCol="0" anchor="t">
            <a:normAutofit/>
          </a:bodyPr>
          <a:lstStyle/>
          <a:p>
            <a:pPr marL="0" indent="0" algn="l">
              <a:buNone/>
            </a:pPr>
            <a:r>
              <a:rPr lang="en-US" sz="2250" dirty="0">
                <a:solidFill>
                  <a:srgbClr val="276EF1"/>
                </a:solidFill>
                <a:latin typeface="Courier New" pitchFamily="34" charset="0"/>
                <a:ea typeface="Courier New" pitchFamily="34" charset="-122"/>
                <a:cs typeface="Courier New" pitchFamily="34" charset="-120"/>
              </a:rPr>
              <a:t>L+</a:t>
            </a:r>
            <a:endParaRPr lang="en-US" sz="2250" dirty="0"/>
          </a:p>
        </p:txBody>
      </p:sp>
      <p:sp>
        <p:nvSpPr>
          <p:cNvPr id="11" name="Text 9"/>
          <p:cNvSpPr/>
          <p:nvPr/>
        </p:nvSpPr>
        <p:spPr>
          <a:xfrm>
            <a:off x="10932691" y="4155281"/>
            <a:ext cx="1432143" cy="357188"/>
          </a:xfrm>
          <a:prstGeom prst="rect">
            <a:avLst/>
          </a:prstGeom>
          <a:noFill/>
          <a:ln/>
        </p:spPr>
        <p:txBody>
          <a:bodyPr wrap="square" lIns="25400" tIns="25400" rIns="25400" bIns="25400" rtlCol="0" anchor="t">
            <a:normAutofit/>
          </a:bodyPr>
          <a:lstStyle/>
          <a:p>
            <a:pPr marL="0" indent="0" algn="l">
              <a:buNone/>
            </a:pPr>
            <a:r>
              <a:rPr lang="en-US" sz="1950" dirty="0">
                <a:solidFill>
                  <a:srgbClr val="3A4759"/>
                </a:solidFill>
                <a:latin typeface="Arial" pitchFamily="34" charset="0"/>
                <a:ea typeface="Arial" pitchFamily="34" charset="-122"/>
                <a:cs typeface="Arial" pitchFamily="34" charset="-120"/>
              </a:rPr>
              <a:t>24 V supply</a:t>
            </a:r>
            <a:endParaRPr lang="en-US" sz="1950" dirty="0"/>
          </a:p>
        </p:txBody>
      </p:sp>
      <p:sp>
        <p:nvSpPr>
          <p:cNvPr id="12" name="Text 10"/>
          <p:cNvSpPr/>
          <p:nvPr/>
        </p:nvSpPr>
        <p:spPr>
          <a:xfrm>
            <a:off x="9999241" y="4650581"/>
            <a:ext cx="819150" cy="404813"/>
          </a:xfrm>
          <a:prstGeom prst="rect">
            <a:avLst/>
          </a:prstGeom>
          <a:noFill/>
          <a:ln/>
        </p:spPr>
        <p:txBody>
          <a:bodyPr wrap="square" lIns="25400" tIns="25400" rIns="25400" bIns="25400" rtlCol="0" anchor="t">
            <a:normAutofit/>
          </a:bodyPr>
          <a:lstStyle/>
          <a:p>
            <a:pPr marL="0" indent="0" algn="l">
              <a:buNone/>
            </a:pPr>
            <a:r>
              <a:rPr lang="en-US" sz="2250" dirty="0">
                <a:solidFill>
                  <a:srgbClr val="5F7185"/>
                </a:solidFill>
                <a:latin typeface="Courier New" pitchFamily="34" charset="0"/>
                <a:ea typeface="Courier New" pitchFamily="34" charset="-122"/>
                <a:cs typeface="Courier New" pitchFamily="34" charset="-120"/>
              </a:rPr>
              <a:t>L−</a:t>
            </a:r>
            <a:endParaRPr lang="en-US" sz="2250" dirty="0"/>
          </a:p>
        </p:txBody>
      </p:sp>
      <p:sp>
        <p:nvSpPr>
          <p:cNvPr id="13" name="Text 11"/>
          <p:cNvSpPr/>
          <p:nvPr/>
        </p:nvSpPr>
        <p:spPr>
          <a:xfrm>
            <a:off x="10932691" y="4674394"/>
            <a:ext cx="1177305" cy="357188"/>
          </a:xfrm>
          <a:prstGeom prst="rect">
            <a:avLst/>
          </a:prstGeom>
          <a:noFill/>
          <a:ln/>
        </p:spPr>
        <p:txBody>
          <a:bodyPr wrap="square" lIns="25400" tIns="25400" rIns="25400" bIns="25400" rtlCol="0" anchor="t">
            <a:normAutofit/>
          </a:bodyPr>
          <a:lstStyle/>
          <a:p>
            <a:pPr marL="0" indent="0" algn="l">
              <a:buNone/>
            </a:pPr>
            <a:r>
              <a:rPr lang="en-US" sz="1950" dirty="0">
                <a:solidFill>
                  <a:srgbClr val="3A4759"/>
                </a:solidFill>
                <a:latin typeface="Arial" pitchFamily="34" charset="0"/>
                <a:ea typeface="Arial" pitchFamily="34" charset="-122"/>
                <a:cs typeface="Arial" pitchFamily="34" charset="-120"/>
              </a:rPr>
              <a:t>0 V return</a:t>
            </a:r>
            <a:endParaRPr lang="en-US" sz="1950" dirty="0"/>
          </a:p>
        </p:txBody>
      </p:sp>
      <p:sp>
        <p:nvSpPr>
          <p:cNvPr id="14" name="Text 12"/>
          <p:cNvSpPr/>
          <p:nvPr/>
        </p:nvSpPr>
        <p:spPr>
          <a:xfrm>
            <a:off x="9999241" y="5169694"/>
            <a:ext cx="819150" cy="404813"/>
          </a:xfrm>
          <a:prstGeom prst="rect">
            <a:avLst/>
          </a:prstGeom>
          <a:noFill/>
          <a:ln/>
        </p:spPr>
        <p:txBody>
          <a:bodyPr wrap="square" lIns="25400" tIns="25400" rIns="25400" bIns="25400" rtlCol="0" anchor="t">
            <a:normAutofit/>
          </a:bodyPr>
          <a:lstStyle/>
          <a:p>
            <a:pPr marL="0" indent="0" algn="l">
              <a:buNone/>
            </a:pPr>
            <a:r>
              <a:rPr lang="en-US" sz="2250" dirty="0">
                <a:solidFill>
                  <a:srgbClr val="0E7C71"/>
                </a:solidFill>
                <a:latin typeface="Courier New" pitchFamily="34" charset="0"/>
                <a:ea typeface="Courier New" pitchFamily="34" charset="-122"/>
                <a:cs typeface="Courier New" pitchFamily="34" charset="-120"/>
              </a:rPr>
              <a:t>C/Q</a:t>
            </a:r>
            <a:endParaRPr lang="en-US" sz="2250" dirty="0"/>
          </a:p>
        </p:txBody>
      </p:sp>
      <p:sp>
        <p:nvSpPr>
          <p:cNvPr id="15" name="Text 13"/>
          <p:cNvSpPr/>
          <p:nvPr/>
        </p:nvSpPr>
        <p:spPr>
          <a:xfrm>
            <a:off x="10932691" y="5193506"/>
            <a:ext cx="3067943" cy="357188"/>
          </a:xfrm>
          <a:prstGeom prst="rect">
            <a:avLst/>
          </a:prstGeom>
          <a:noFill/>
          <a:ln/>
        </p:spPr>
        <p:txBody>
          <a:bodyPr wrap="square" lIns="25400" tIns="25400" rIns="25400" bIns="25400" rtlCol="0" anchor="t">
            <a:normAutofit/>
          </a:bodyPr>
          <a:lstStyle/>
          <a:p>
            <a:pPr marL="0" indent="0" algn="l">
              <a:buNone/>
            </a:pPr>
            <a:r>
              <a:rPr lang="en-US" sz="1950" dirty="0">
                <a:solidFill>
                  <a:srgbClr val="3A4759"/>
                </a:solidFill>
                <a:latin typeface="Arial" pitchFamily="34" charset="0"/>
                <a:ea typeface="Arial" pitchFamily="34" charset="-122"/>
                <a:cs typeface="Arial" pitchFamily="34" charset="-120"/>
              </a:rPr>
              <a:t>switching or IO-Link data</a:t>
            </a:r>
            <a:endParaRPr lang="en-US" sz="1950" dirty="0"/>
          </a:p>
        </p:txBody>
      </p:sp>
      <p:sp>
        <p:nvSpPr>
          <p:cNvPr id="16" name="Shape 14"/>
          <p:cNvSpPr/>
          <p:nvPr/>
        </p:nvSpPr>
        <p:spPr>
          <a:xfrm>
            <a:off x="9999241" y="5803106"/>
            <a:ext cx="6831434" cy="9525"/>
          </a:xfrm>
          <a:prstGeom prst="rect">
            <a:avLst/>
          </a:prstGeom>
          <a:solidFill>
            <a:srgbClr val="E6ECF2"/>
          </a:solidFill>
          <a:ln/>
        </p:spPr>
      </p:sp>
      <p:sp>
        <p:nvSpPr>
          <p:cNvPr id="17" name="Text 15"/>
          <p:cNvSpPr/>
          <p:nvPr/>
        </p:nvSpPr>
        <p:spPr>
          <a:xfrm>
            <a:off x="9999241" y="6041231"/>
            <a:ext cx="7036377" cy="371475"/>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5F7185"/>
                </a:solidFill>
                <a:latin typeface="Arial" pitchFamily="34" charset="0"/>
                <a:ea typeface="Arial" pitchFamily="34" charset="-122"/>
                <a:cs typeface="Arial" pitchFamily="34" charset="-120"/>
              </a:rPr>
              <a:t>Power + bidirectional data on familiar industrial wiring.</a:t>
            </a:r>
            <a:endParaRPr lang="en-US" sz="1875" dirty="0"/>
          </a:p>
        </p:txBody>
      </p:sp>
      <p:sp>
        <p:nvSpPr>
          <p:cNvPr id="18" name="Shape 16"/>
          <p:cNvSpPr/>
          <p:nvPr/>
        </p:nvSpPr>
        <p:spPr>
          <a:xfrm>
            <a:off x="1047750" y="8753475"/>
            <a:ext cx="16192500" cy="9525"/>
          </a:xfrm>
          <a:prstGeom prst="rect">
            <a:avLst/>
          </a:prstGeom>
          <a:solidFill>
            <a:srgbClr val="DCE4ED"/>
          </a:solidFill>
          <a:ln/>
        </p:spPr>
      </p:sp>
      <p:sp>
        <p:nvSpPr>
          <p:cNvPr id="19" name="Text 17"/>
          <p:cNvSpPr/>
          <p:nvPr/>
        </p:nvSpPr>
        <p:spPr>
          <a:xfrm>
            <a:off x="1047750" y="9310688"/>
            <a:ext cx="6184590" cy="347663"/>
          </a:xfrm>
          <a:prstGeom prst="rect">
            <a:avLst/>
          </a:prstGeom>
          <a:noFill/>
          <a:ln/>
        </p:spPr>
        <p:txBody>
          <a:bodyPr wrap="square" lIns="25400" tIns="25400" rIns="25400" bIns="25400" rtlCol="0" anchor="t">
            <a:normAutofit/>
          </a:bodyPr>
          <a:lstStyle/>
          <a:p>
            <a:pPr marL="0" indent="0" algn="l">
              <a:buNone/>
            </a:pPr>
            <a:r>
              <a:rPr lang="en-US" sz="2100" b="1" dirty="0">
                <a:solidFill>
                  <a:srgbClr val="102033"/>
                </a:solidFill>
                <a:latin typeface="Arial" pitchFamily="34" charset="0"/>
                <a:ea typeface="Arial" pitchFamily="34" charset="-122"/>
                <a:cs typeface="Arial" pitchFamily="34" charset="-120"/>
              </a:rPr>
              <a:t>Md Ratul Ahmed Alvi · Md Wasib Kamal Nirjon</a:t>
            </a:r>
            <a:endParaRPr lang="en-US" sz="2100" dirty="0"/>
          </a:p>
        </p:txBody>
      </p:sp>
      <p:sp>
        <p:nvSpPr>
          <p:cNvPr id="20" name="Text 18"/>
          <p:cNvSpPr/>
          <p:nvPr/>
        </p:nvSpPr>
        <p:spPr>
          <a:xfrm>
            <a:off x="8628328" y="9029700"/>
            <a:ext cx="8611922" cy="628650"/>
          </a:xfrm>
          <a:prstGeom prst="rect">
            <a:avLst/>
          </a:prstGeom>
          <a:noFill/>
          <a:ln/>
        </p:spPr>
        <p:txBody>
          <a:bodyPr wrap="square" lIns="25400" tIns="25400" rIns="25400" bIns="25400" rtlCol="0" anchor="t">
            <a:normAutofit/>
          </a:bodyPr>
          <a:lstStyle/>
          <a:p>
            <a:pPr algn="r"/>
            <a:r>
              <a:rPr lang="en-US" kern="0" spc="75" dirty="0">
                <a:solidFill>
                  <a:srgbClr val="7B8794"/>
                </a:solidFill>
                <a:latin typeface="Courier New"/>
                <a:ea typeface="Courier New" pitchFamily="34" charset="-122"/>
                <a:cs typeface="Courier New"/>
              </a:rPr>
              <a:t>Industrial Communication </a:t>
            </a:r>
            <a:r>
              <a:rPr lang="en-US" kern="0" spc="75">
                <a:solidFill>
                  <a:srgbClr val="7B8794"/>
                </a:solidFill>
                <a:latin typeface="Courier New"/>
                <a:ea typeface="Courier New" pitchFamily="34" charset="-122"/>
                <a:cs typeface="Courier New"/>
              </a:rPr>
              <a:t>Standards</a:t>
            </a:r>
            <a:r>
              <a:rPr lang="en-US" sz="1800" kern="0" spc="75" dirty="0">
                <a:solidFill>
                  <a:srgbClr val="7B8794"/>
                </a:solidFill>
                <a:latin typeface="Courier New"/>
                <a:ea typeface="Courier New" pitchFamily="34" charset="-122"/>
                <a:cs typeface="Courier New"/>
              </a:rPr>
              <a:t>· Electronic Engineering Hochschule Hamm-Lippstadt</a:t>
            </a:r>
            <a:endParaRPr lang="en-US" sz="1800" dirty="0">
              <a:latin typeface="Courier New"/>
              <a:cs typeface="Courier New"/>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marL="0" indent="0" algn="l">
              <a:buNone/>
            </a:pPr>
            <a:r>
              <a:rPr lang="en-US" sz="1800" kern="0" spc="263" dirty="0">
                <a:solidFill>
                  <a:srgbClr val="0E7C71"/>
                </a:solidFill>
                <a:latin typeface="Courier New" pitchFamily="34" charset="0"/>
                <a:ea typeface="Courier New" pitchFamily="34" charset="-122"/>
                <a:cs typeface="Courier New" pitchFamily="34" charset="-120"/>
              </a:rPr>
              <a:t>THE PROBLEM</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marL="0" indent="0" algn="l">
              <a:lnSpc>
                <a:spcPct val="107000"/>
              </a:lnSpc>
              <a:buNone/>
            </a:pPr>
            <a:r>
              <a:rPr lang="en-US" sz="3900" b="1" kern="0" spc="-37" dirty="0">
                <a:solidFill>
                  <a:srgbClr val="102033"/>
                </a:solidFill>
                <a:latin typeface="Arial" pitchFamily="34" charset="0"/>
                <a:ea typeface="Arial" pitchFamily="34" charset="-122"/>
                <a:cs typeface="Arial" pitchFamily="34" charset="-120"/>
              </a:rPr>
              <a:t>Traditional sensor wiring hides useful information</a:t>
            </a:r>
            <a:endParaRPr lang="en-US" sz="3900" dirty="0"/>
          </a:p>
        </p:txBody>
      </p:sp>
      <p:sp>
        <p:nvSpPr>
          <p:cNvPr id="5" name="Shape 3"/>
          <p:cNvSpPr/>
          <p:nvPr/>
        </p:nvSpPr>
        <p:spPr>
          <a:xfrm>
            <a:off x="990600" y="2177728"/>
            <a:ext cx="7962900" cy="5404172"/>
          </a:xfrm>
          <a:prstGeom prst="roundRect">
            <a:avLst>
              <a:gd name="adj" fmla="val 3878"/>
            </a:avLst>
          </a:prstGeom>
          <a:solidFill>
            <a:srgbClr val="FFFFFF"/>
          </a:solidFill>
          <a:ln w="9525">
            <a:solidFill>
              <a:srgbClr val="DCE4ED"/>
            </a:solidFill>
            <a:prstDash val="solid"/>
          </a:ln>
        </p:spPr>
      </p:sp>
      <p:sp>
        <p:nvSpPr>
          <p:cNvPr id="6" name="Shape 4"/>
          <p:cNvSpPr/>
          <p:nvPr/>
        </p:nvSpPr>
        <p:spPr>
          <a:xfrm>
            <a:off x="1419225" y="2703984"/>
            <a:ext cx="152400" cy="152400"/>
          </a:xfrm>
          <a:prstGeom prst="ellipse">
            <a:avLst/>
          </a:prstGeom>
          <a:solidFill>
            <a:srgbClr val="9AA8B6"/>
          </a:solidFill>
          <a:ln/>
        </p:spPr>
      </p:sp>
      <p:sp>
        <p:nvSpPr>
          <p:cNvPr id="7" name="Text 5"/>
          <p:cNvSpPr/>
          <p:nvPr/>
        </p:nvSpPr>
        <p:spPr>
          <a:xfrm>
            <a:off x="1724025" y="2625403"/>
            <a:ext cx="3976211" cy="347663"/>
          </a:xfrm>
          <a:prstGeom prst="rect">
            <a:avLst/>
          </a:prstGeom>
          <a:noFill/>
          <a:ln/>
        </p:spPr>
        <p:txBody>
          <a:bodyPr wrap="square" lIns="25400" tIns="25400" rIns="25400" bIns="25400" rtlCol="0" anchor="t">
            <a:normAutofit/>
          </a:bodyPr>
          <a:lstStyle/>
          <a:p>
            <a:pPr marL="0" indent="0" algn="l">
              <a:buNone/>
            </a:pPr>
            <a:r>
              <a:rPr lang="en-US" sz="1875" kern="0" spc="113" dirty="0">
                <a:solidFill>
                  <a:srgbClr val="5F7185"/>
                </a:solidFill>
                <a:latin typeface="Courier New" pitchFamily="34" charset="0"/>
                <a:ea typeface="Courier New" pitchFamily="34" charset="-122"/>
                <a:cs typeface="Courier New" pitchFamily="34" charset="-120"/>
              </a:rPr>
              <a:t>TRADITIONAL 24 V WIRING</a:t>
            </a:r>
            <a:endParaRPr lang="en-US" sz="1875" dirty="0"/>
          </a:p>
        </p:txBody>
      </p:sp>
      <p:sp>
        <p:nvSpPr>
          <p:cNvPr id="8" name="Text 6"/>
          <p:cNvSpPr/>
          <p:nvPr/>
        </p:nvSpPr>
        <p:spPr>
          <a:xfrm>
            <a:off x="1419225" y="3163565"/>
            <a:ext cx="7318820" cy="1405235"/>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3A4759"/>
                </a:solidFill>
                <a:latin typeface="Arial" pitchFamily="34" charset="0"/>
                <a:ea typeface="Arial" pitchFamily="34" charset="-122"/>
                <a:cs typeface="Arial" pitchFamily="34" charset="-120"/>
              </a:rPr>
              <a:t>Only on/off or one analog value. No identity, no remote parameters, and no readable reason when a fault appears.</a:t>
            </a:r>
            <a:endParaRPr lang="en-US" sz="2475" dirty="0"/>
          </a:p>
        </p:txBody>
      </p:sp>
      <p:sp>
        <p:nvSpPr>
          <p:cNvPr id="9" name="Shape 7"/>
          <p:cNvSpPr/>
          <p:nvPr/>
        </p:nvSpPr>
        <p:spPr>
          <a:xfrm>
            <a:off x="9334500" y="2177728"/>
            <a:ext cx="7962900" cy="5404172"/>
          </a:xfrm>
          <a:prstGeom prst="roundRect">
            <a:avLst>
              <a:gd name="adj" fmla="val 3878"/>
            </a:avLst>
          </a:prstGeom>
          <a:solidFill>
            <a:srgbClr val="EAF7F4"/>
          </a:solidFill>
          <a:ln w="9525">
            <a:solidFill>
              <a:srgbClr val="BFE6DF"/>
            </a:solidFill>
            <a:prstDash val="solid"/>
          </a:ln>
        </p:spPr>
      </p:sp>
      <p:sp>
        <p:nvSpPr>
          <p:cNvPr id="10" name="Shape 8"/>
          <p:cNvSpPr/>
          <p:nvPr/>
        </p:nvSpPr>
        <p:spPr>
          <a:xfrm>
            <a:off x="9763125" y="2703984"/>
            <a:ext cx="152400" cy="152400"/>
          </a:xfrm>
          <a:prstGeom prst="ellipse">
            <a:avLst/>
          </a:prstGeom>
          <a:solidFill>
            <a:srgbClr val="12A594"/>
          </a:solidFill>
          <a:ln/>
        </p:spPr>
      </p:sp>
      <p:sp>
        <p:nvSpPr>
          <p:cNvPr id="11" name="Text 9"/>
          <p:cNvSpPr/>
          <p:nvPr/>
        </p:nvSpPr>
        <p:spPr>
          <a:xfrm>
            <a:off x="10067925" y="2625403"/>
            <a:ext cx="2593181" cy="347663"/>
          </a:xfrm>
          <a:prstGeom prst="rect">
            <a:avLst/>
          </a:prstGeom>
          <a:noFill/>
          <a:ln/>
        </p:spPr>
        <p:txBody>
          <a:bodyPr wrap="square" lIns="25400" tIns="25400" rIns="25400" bIns="25400" rtlCol="0" anchor="t">
            <a:normAutofit/>
          </a:bodyPr>
          <a:lstStyle/>
          <a:p>
            <a:pPr marL="0" indent="0" algn="l">
              <a:buNone/>
            </a:pPr>
            <a:r>
              <a:rPr lang="en-US" sz="1875" kern="0" spc="113" dirty="0">
                <a:solidFill>
                  <a:srgbClr val="0E7C71"/>
                </a:solidFill>
                <a:latin typeface="Courier New" pitchFamily="34" charset="0"/>
                <a:ea typeface="Courier New" pitchFamily="34" charset="-122"/>
                <a:cs typeface="Courier New" pitchFamily="34" charset="-120"/>
              </a:rPr>
              <a:t>IO-LINK ENABLED</a:t>
            </a:r>
            <a:endParaRPr lang="en-US" sz="1875" dirty="0"/>
          </a:p>
        </p:txBody>
      </p:sp>
      <p:sp>
        <p:nvSpPr>
          <p:cNvPr id="12" name="Text 10"/>
          <p:cNvSpPr/>
          <p:nvPr/>
        </p:nvSpPr>
        <p:spPr>
          <a:xfrm>
            <a:off x="9763125" y="3163565"/>
            <a:ext cx="7318820" cy="1405235"/>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1C3A36"/>
                </a:solidFill>
                <a:latin typeface="Arial" pitchFamily="34" charset="0"/>
                <a:ea typeface="Arial" pitchFamily="34" charset="-122"/>
                <a:cs typeface="Arial" pitchFamily="34" charset="-120"/>
              </a:rPr>
              <a:t>Process data, device identity, parameters, and diagnostic events travel on the same last-meter connection.</a:t>
            </a:r>
            <a:endParaRPr lang="en-US" sz="2475" dirty="0"/>
          </a:p>
        </p:txBody>
      </p:sp>
      <p:sp>
        <p:nvSpPr>
          <p:cNvPr id="13" name="Shape 11"/>
          <p:cNvSpPr/>
          <p:nvPr/>
        </p:nvSpPr>
        <p:spPr>
          <a:xfrm>
            <a:off x="990600" y="7943850"/>
            <a:ext cx="16306800" cy="971550"/>
          </a:xfrm>
          <a:prstGeom prst="roundRect">
            <a:avLst>
              <a:gd name="adj" fmla="val 17647"/>
            </a:avLst>
          </a:prstGeom>
          <a:solidFill>
            <a:srgbClr val="102033"/>
          </a:solidFill>
          <a:ln/>
        </p:spPr>
      </p:sp>
      <p:sp>
        <p:nvSpPr>
          <p:cNvPr id="14" name="Text 12"/>
          <p:cNvSpPr/>
          <p:nvPr/>
        </p:nvSpPr>
        <p:spPr>
          <a:xfrm>
            <a:off x="1409700" y="8281987"/>
            <a:ext cx="223391"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5FD7C6"/>
                </a:solidFill>
                <a:latin typeface="Courier New" pitchFamily="34" charset="0"/>
                <a:ea typeface="Courier New" pitchFamily="34" charset="-122"/>
                <a:cs typeface="Courier New" pitchFamily="34" charset="-120"/>
              </a:rPr>
              <a:t>→</a:t>
            </a:r>
            <a:endParaRPr lang="en-US" sz="1800" dirty="0"/>
          </a:p>
        </p:txBody>
      </p:sp>
      <p:sp>
        <p:nvSpPr>
          <p:cNvPr id="15" name="Text 13"/>
          <p:cNvSpPr/>
          <p:nvPr/>
        </p:nvSpPr>
        <p:spPr>
          <a:xfrm>
            <a:off x="1766441" y="8229600"/>
            <a:ext cx="7096951" cy="438150"/>
          </a:xfrm>
          <a:prstGeom prst="rect">
            <a:avLst/>
          </a:prstGeom>
          <a:noFill/>
          <a:ln/>
        </p:spPr>
        <p:txBody>
          <a:bodyPr wrap="square" lIns="25400" tIns="25400" rIns="25400" bIns="25400" rtlCol="0" anchor="t">
            <a:normAutofit/>
          </a:bodyPr>
          <a:lstStyle/>
          <a:p>
            <a:pPr marL="0" indent="0" algn="l">
              <a:buNone/>
            </a:pPr>
            <a:r>
              <a:rPr lang="en-US" sz="2400" dirty="0">
                <a:solidFill>
                  <a:srgbClr val="FFFFFF"/>
                </a:solidFill>
                <a:latin typeface="Arial" pitchFamily="34" charset="0"/>
                <a:ea typeface="Arial" pitchFamily="34" charset="-122"/>
                <a:cs typeface="Arial" pitchFamily="34" charset="-120"/>
              </a:rPr>
              <a:t>From a blind signal to a self-describing device.</a:t>
            </a:r>
            <a:endParaRPr lang="en-US" sz="2400" dirty="0"/>
          </a:p>
        </p:txBody>
      </p:sp>
      <p:sp>
        <p:nvSpPr>
          <p:cNvPr id="16" name="Shape 14"/>
          <p:cNvSpPr/>
          <p:nvPr/>
        </p:nvSpPr>
        <p:spPr>
          <a:xfrm>
            <a:off x="990600" y="9239250"/>
            <a:ext cx="16306800" cy="9525"/>
          </a:xfrm>
          <a:prstGeom prst="rect">
            <a:avLst/>
          </a:prstGeom>
          <a:solidFill>
            <a:srgbClr val="DCE4ED"/>
          </a:solidFill>
          <a:ln/>
        </p:spPr>
      </p:sp>
      <p:sp>
        <p:nvSpPr>
          <p:cNvPr id="17" name="Text 15"/>
          <p:cNvSpPr/>
          <p:nvPr/>
        </p:nvSpPr>
        <p:spPr>
          <a:xfrm>
            <a:off x="990600" y="9420225"/>
            <a:ext cx="6292803" cy="333375"/>
          </a:xfrm>
          <a:prstGeom prst="rect">
            <a:avLst/>
          </a:prstGeom>
          <a:noFill/>
          <a:ln/>
        </p:spPr>
        <p:txBody>
          <a:bodyPr wrap="square" lIns="25400" tIns="25400" rIns="25400" bIns="25400" rtlCol="0" anchor="t">
            <a:normAutofit/>
          </a:bodyPr>
          <a:lstStyle/>
          <a:p>
            <a:r>
              <a:rPr lang="en-US" kern="0" spc="75">
                <a:solidFill>
                  <a:srgbClr val="7B8794"/>
                </a:solidFill>
                <a:latin typeface="Courier New"/>
                <a:ea typeface="Courier New" pitchFamily="34" charset="-122"/>
                <a:cs typeface="Courier New"/>
              </a:rPr>
              <a:t>Industrial Communication Standards</a:t>
            </a:r>
            <a:r>
              <a:rPr lang="en-US" kern="0" spc="75">
                <a:solidFill>
                  <a:srgbClr val="9AA8B6"/>
                </a:solidFill>
                <a:latin typeface="Courier New"/>
                <a:ea typeface="Courier New" pitchFamily="34" charset="-122"/>
                <a:cs typeface="Courier New"/>
              </a:rPr>
              <a:t> </a:t>
            </a:r>
            <a:r>
              <a:rPr lang="en-US" sz="1800" kern="0" spc="75">
                <a:solidFill>
                  <a:srgbClr val="9AA8B6"/>
                </a:solidFill>
                <a:latin typeface="Courier New"/>
                <a:ea typeface="Courier New" pitchFamily="34" charset="-122"/>
                <a:cs typeface="Courier New"/>
              </a:rPr>
              <a:t>· HSHL</a:t>
            </a:r>
            <a:endParaRPr lang="en-US" sz="1800">
              <a:latin typeface="Courier New"/>
              <a:cs typeface="Courier New"/>
            </a:endParaRPr>
          </a:p>
        </p:txBody>
      </p:sp>
      <p:sp>
        <p:nvSpPr>
          <p:cNvPr id="18" name="Text 16"/>
          <p:cNvSpPr/>
          <p:nvPr/>
        </p:nvSpPr>
        <p:spPr>
          <a:xfrm>
            <a:off x="16270560" y="9420225"/>
            <a:ext cx="1103040"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02 / 12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marL="0" indent="0" algn="l">
              <a:buNone/>
            </a:pPr>
            <a:r>
              <a:rPr lang="en-US" sz="1800" kern="0" spc="263" dirty="0">
                <a:solidFill>
                  <a:srgbClr val="0E7C71"/>
                </a:solidFill>
                <a:latin typeface="Courier New" pitchFamily="34" charset="0"/>
                <a:ea typeface="Courier New" pitchFamily="34" charset="-122"/>
                <a:cs typeface="Courier New" pitchFamily="34" charset="-120"/>
              </a:rPr>
              <a:t>SCOPE</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marL="0" indent="0" algn="l">
              <a:lnSpc>
                <a:spcPct val="107000"/>
              </a:lnSpc>
              <a:buNone/>
            </a:pPr>
            <a:r>
              <a:rPr lang="en-US" sz="3900" b="1" kern="0" spc="-37" dirty="0">
                <a:solidFill>
                  <a:srgbClr val="102033"/>
                </a:solidFill>
                <a:latin typeface="Arial" pitchFamily="34" charset="0"/>
                <a:ea typeface="Arial" pitchFamily="34" charset="-122"/>
                <a:cs typeface="Arial" pitchFamily="34" charset="-120"/>
              </a:rPr>
              <a:t>IO-Link is the digital interface for the last meter</a:t>
            </a:r>
            <a:endParaRPr lang="en-US" sz="3900" dirty="0"/>
          </a:p>
        </p:txBody>
      </p:sp>
      <p:sp>
        <p:nvSpPr>
          <p:cNvPr id="5" name="Shape 3"/>
          <p:cNvSpPr/>
          <p:nvPr/>
        </p:nvSpPr>
        <p:spPr>
          <a:xfrm>
            <a:off x="990600" y="3546277"/>
            <a:ext cx="3975050" cy="1300163"/>
          </a:xfrm>
          <a:prstGeom prst="roundRect">
            <a:avLst>
              <a:gd name="adj" fmla="val 13187"/>
            </a:avLst>
          </a:prstGeom>
          <a:solidFill>
            <a:srgbClr val="FFFFFF"/>
          </a:solidFill>
          <a:ln w="14288">
            <a:solidFill>
              <a:srgbClr val="DCE4ED"/>
            </a:solidFill>
            <a:prstDash val="solid"/>
          </a:ln>
          <a:effectLst>
            <a:outerShdw blurRad="381000" dist="171450" dir="5400000" algn="bl" rotWithShape="0">
              <a:srgbClr val="102033">
                <a:alpha val="30000"/>
              </a:srgbClr>
            </a:outerShdw>
          </a:effectLst>
        </p:spPr>
      </p:sp>
      <p:sp>
        <p:nvSpPr>
          <p:cNvPr id="6" name="Text 4"/>
          <p:cNvSpPr/>
          <p:nvPr/>
        </p:nvSpPr>
        <p:spPr>
          <a:xfrm>
            <a:off x="1252538" y="3846314"/>
            <a:ext cx="3796293" cy="309563"/>
          </a:xfrm>
          <a:prstGeom prst="rect">
            <a:avLst/>
          </a:prstGeom>
          <a:noFill/>
          <a:ln/>
        </p:spPr>
        <p:txBody>
          <a:bodyPr wrap="square" lIns="25400" tIns="25400" rIns="25400" bIns="25400" rtlCol="0" anchor="t">
            <a:normAutofit/>
          </a:bodyPr>
          <a:lstStyle/>
          <a:p>
            <a:pPr marL="0" indent="0" algn="l">
              <a:buNone/>
            </a:pPr>
            <a:r>
              <a:rPr lang="en-US" sz="1650" kern="0" spc="113" dirty="0">
                <a:solidFill>
                  <a:srgbClr val="7B8794"/>
                </a:solidFill>
                <a:latin typeface="Courier New" pitchFamily="34" charset="0"/>
                <a:ea typeface="Courier New" pitchFamily="34" charset="-122"/>
                <a:cs typeface="Courier New" pitchFamily="34" charset="-120"/>
              </a:rPr>
              <a:t>FIELD DEVICE</a:t>
            </a:r>
            <a:endParaRPr lang="en-US" sz="1650" dirty="0"/>
          </a:p>
        </p:txBody>
      </p:sp>
      <p:sp>
        <p:nvSpPr>
          <p:cNvPr id="7" name="Text 5"/>
          <p:cNvSpPr/>
          <p:nvPr/>
        </p:nvSpPr>
        <p:spPr>
          <a:xfrm>
            <a:off x="1252538" y="4193977"/>
            <a:ext cx="3796293"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02033"/>
                </a:solidFill>
                <a:latin typeface="Arial" pitchFamily="34" charset="0"/>
                <a:ea typeface="Arial" pitchFamily="34" charset="-122"/>
                <a:cs typeface="Arial" pitchFamily="34" charset="-120"/>
              </a:rPr>
              <a:t>Sensor / Actuator</a:t>
            </a:r>
            <a:endParaRPr lang="en-US" sz="2400" dirty="0"/>
          </a:p>
        </p:txBody>
      </p:sp>
      <p:sp>
        <p:nvSpPr>
          <p:cNvPr id="8" name="Text 6"/>
          <p:cNvSpPr/>
          <p:nvPr/>
        </p:nvSpPr>
        <p:spPr>
          <a:xfrm>
            <a:off x="5092843" y="3853458"/>
            <a:ext cx="1936291" cy="309563"/>
          </a:xfrm>
          <a:prstGeom prst="rect">
            <a:avLst/>
          </a:prstGeom>
          <a:noFill/>
          <a:ln/>
        </p:spPr>
        <p:txBody>
          <a:bodyPr wrap="square" lIns="25400" tIns="25400" rIns="25400" bIns="25400" rtlCol="0" anchor="t">
            <a:normAutofit/>
          </a:bodyPr>
          <a:lstStyle/>
          <a:p>
            <a:pPr marL="0" indent="0" algn="ctr">
              <a:buNone/>
            </a:pPr>
            <a:r>
              <a:rPr lang="en-US" sz="1650" dirty="0">
                <a:solidFill>
                  <a:srgbClr val="0E7C71"/>
                </a:solidFill>
                <a:latin typeface="Courier New" pitchFamily="34" charset="0"/>
                <a:ea typeface="Courier New" pitchFamily="34" charset="-122"/>
                <a:cs typeface="Courier New" pitchFamily="34" charset="-120"/>
              </a:rPr>
              <a:t>point-to-point</a:t>
            </a:r>
            <a:endParaRPr lang="en-US" sz="1650" dirty="0"/>
          </a:p>
        </p:txBody>
      </p:sp>
      <p:sp>
        <p:nvSpPr>
          <p:cNvPr id="9" name="Shape 7"/>
          <p:cNvSpPr/>
          <p:nvPr/>
        </p:nvSpPr>
        <p:spPr>
          <a:xfrm>
            <a:off x="5022800" y="4367808"/>
            <a:ext cx="1887066" cy="23813"/>
          </a:xfrm>
          <a:prstGeom prst="rect">
            <a:avLst/>
          </a:prstGeom>
          <a:solidFill>
            <a:srgbClr val="0E7C71"/>
          </a:solidFill>
          <a:ln/>
        </p:spPr>
      </p:sp>
      <p:sp>
        <p:nvSpPr>
          <p:cNvPr id="10" name="Text 8"/>
          <p:cNvSpPr/>
          <p:nvPr/>
        </p:nvSpPr>
        <p:spPr>
          <a:xfrm>
            <a:off x="6881292" y="4220170"/>
            <a:ext cx="294159" cy="357188"/>
          </a:xfrm>
          <a:prstGeom prst="rect">
            <a:avLst/>
          </a:prstGeom>
          <a:noFill/>
          <a:ln/>
        </p:spPr>
        <p:txBody>
          <a:bodyPr wrap="square" lIns="25400" tIns="25400" rIns="25400" bIns="25400" rtlCol="0" anchor="t">
            <a:normAutofit/>
          </a:bodyPr>
          <a:lstStyle/>
          <a:p>
            <a:pPr marL="0" indent="0" algn="l">
              <a:buNone/>
            </a:pPr>
            <a:r>
              <a:rPr lang="en-US" sz="1950" dirty="0">
                <a:solidFill>
                  <a:srgbClr val="0E7C71"/>
                </a:solidFill>
                <a:latin typeface="Arial" pitchFamily="34" charset="0"/>
                <a:ea typeface="Arial" pitchFamily="34" charset="-122"/>
                <a:cs typeface="Arial" pitchFamily="34" charset="-120"/>
              </a:rPr>
              <a:t>▶</a:t>
            </a:r>
            <a:endParaRPr lang="en-US" sz="1950" dirty="0"/>
          </a:p>
        </p:txBody>
      </p:sp>
      <p:sp>
        <p:nvSpPr>
          <p:cNvPr id="11" name="Shape 9"/>
          <p:cNvSpPr/>
          <p:nvPr/>
        </p:nvSpPr>
        <p:spPr>
          <a:xfrm>
            <a:off x="7156400" y="3546277"/>
            <a:ext cx="3975125" cy="1300163"/>
          </a:xfrm>
          <a:prstGeom prst="roundRect">
            <a:avLst>
              <a:gd name="adj" fmla="val 13187"/>
            </a:avLst>
          </a:prstGeom>
          <a:solidFill>
            <a:srgbClr val="EAF7F4"/>
          </a:solidFill>
          <a:ln w="14288">
            <a:solidFill>
              <a:srgbClr val="BFE6DF"/>
            </a:solidFill>
            <a:prstDash val="solid"/>
          </a:ln>
          <a:effectLst>
            <a:outerShdw blurRad="381000" dist="171450" dir="5400000" algn="bl" rotWithShape="0">
              <a:srgbClr val="0E7C71">
                <a:alpha val="35000"/>
              </a:srgbClr>
            </a:outerShdw>
          </a:effectLst>
        </p:spPr>
      </p:sp>
      <p:sp>
        <p:nvSpPr>
          <p:cNvPr id="12" name="Text 10"/>
          <p:cNvSpPr/>
          <p:nvPr/>
        </p:nvSpPr>
        <p:spPr>
          <a:xfrm>
            <a:off x="7418338" y="3846314"/>
            <a:ext cx="3796375" cy="309563"/>
          </a:xfrm>
          <a:prstGeom prst="rect">
            <a:avLst/>
          </a:prstGeom>
          <a:noFill/>
          <a:ln/>
        </p:spPr>
        <p:txBody>
          <a:bodyPr wrap="square" lIns="25400" tIns="25400" rIns="25400" bIns="25400" rtlCol="0" anchor="t">
            <a:normAutofit/>
          </a:bodyPr>
          <a:lstStyle/>
          <a:p>
            <a:pPr marL="0" indent="0" algn="l">
              <a:buNone/>
            </a:pPr>
            <a:r>
              <a:rPr lang="en-US" sz="1650" kern="0" spc="113" dirty="0">
                <a:solidFill>
                  <a:srgbClr val="0E7C71"/>
                </a:solidFill>
                <a:latin typeface="Courier New" pitchFamily="34" charset="0"/>
                <a:ea typeface="Courier New" pitchFamily="34" charset="-122"/>
                <a:cs typeface="Courier New" pitchFamily="34" charset="-120"/>
              </a:rPr>
              <a:t>IO-LINK</a:t>
            </a:r>
            <a:endParaRPr lang="en-US" sz="1650" dirty="0"/>
          </a:p>
        </p:txBody>
      </p:sp>
      <p:sp>
        <p:nvSpPr>
          <p:cNvPr id="13" name="Text 11"/>
          <p:cNvSpPr/>
          <p:nvPr/>
        </p:nvSpPr>
        <p:spPr>
          <a:xfrm>
            <a:off x="7418338" y="4193977"/>
            <a:ext cx="3796375"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0E7C71"/>
                </a:solidFill>
                <a:latin typeface="Arial" pitchFamily="34" charset="0"/>
                <a:ea typeface="Arial" pitchFamily="34" charset="-122"/>
                <a:cs typeface="Arial" pitchFamily="34" charset="-120"/>
              </a:rPr>
              <a:t>Master</a:t>
            </a:r>
            <a:endParaRPr lang="en-US" sz="2400" dirty="0"/>
          </a:p>
        </p:txBody>
      </p:sp>
      <p:sp>
        <p:nvSpPr>
          <p:cNvPr id="14" name="Text 12"/>
          <p:cNvSpPr/>
          <p:nvPr/>
        </p:nvSpPr>
        <p:spPr>
          <a:xfrm>
            <a:off x="11150575" y="3717727"/>
            <a:ext cx="2152650" cy="581025"/>
          </a:xfrm>
          <a:prstGeom prst="rect">
            <a:avLst/>
          </a:prstGeom>
          <a:noFill/>
          <a:ln/>
        </p:spPr>
        <p:txBody>
          <a:bodyPr wrap="square" lIns="25400" tIns="25400" rIns="25400" bIns="25400" rtlCol="0" anchor="t">
            <a:normAutofit/>
          </a:bodyPr>
          <a:lstStyle/>
          <a:p>
            <a:pPr marL="0" indent="0" algn="ctr">
              <a:buNone/>
            </a:pPr>
            <a:r>
              <a:rPr lang="en-US" sz="1650" dirty="0">
                <a:solidFill>
                  <a:srgbClr val="276EF1"/>
                </a:solidFill>
                <a:latin typeface="Courier New" pitchFamily="34" charset="0"/>
                <a:ea typeface="Courier New" pitchFamily="34" charset="-122"/>
                <a:cs typeface="Courier New" pitchFamily="34" charset="-120"/>
              </a:rPr>
              <a:t>fieldbus · PROFINET</a:t>
            </a:r>
            <a:endParaRPr lang="en-US" sz="1650" dirty="0"/>
          </a:p>
        </p:txBody>
      </p:sp>
      <p:sp>
        <p:nvSpPr>
          <p:cNvPr id="15" name="Shape 13"/>
          <p:cNvSpPr/>
          <p:nvPr/>
        </p:nvSpPr>
        <p:spPr>
          <a:xfrm>
            <a:off x="11188675" y="4503539"/>
            <a:ext cx="1887066" cy="23813"/>
          </a:xfrm>
          <a:prstGeom prst="rect">
            <a:avLst/>
          </a:prstGeom>
          <a:solidFill>
            <a:srgbClr val="276EF1"/>
          </a:solidFill>
          <a:ln/>
        </p:spPr>
      </p:sp>
      <p:sp>
        <p:nvSpPr>
          <p:cNvPr id="16" name="Text 14"/>
          <p:cNvSpPr/>
          <p:nvPr/>
        </p:nvSpPr>
        <p:spPr>
          <a:xfrm>
            <a:off x="13047166" y="4355902"/>
            <a:ext cx="294159" cy="357188"/>
          </a:xfrm>
          <a:prstGeom prst="rect">
            <a:avLst/>
          </a:prstGeom>
          <a:noFill/>
          <a:ln/>
        </p:spPr>
        <p:txBody>
          <a:bodyPr wrap="square" lIns="25400" tIns="25400" rIns="25400" bIns="25400" rtlCol="0" anchor="t">
            <a:normAutofit/>
          </a:bodyPr>
          <a:lstStyle/>
          <a:p>
            <a:pPr marL="0" indent="0" algn="l">
              <a:buNone/>
            </a:pPr>
            <a:r>
              <a:rPr lang="en-US" sz="1950" dirty="0">
                <a:solidFill>
                  <a:srgbClr val="276EF1"/>
                </a:solidFill>
                <a:latin typeface="Arial" pitchFamily="34" charset="0"/>
                <a:ea typeface="Arial" pitchFamily="34" charset="-122"/>
                <a:cs typeface="Arial" pitchFamily="34" charset="-120"/>
              </a:rPr>
              <a:t>▶</a:t>
            </a:r>
            <a:endParaRPr lang="en-US" sz="1950" dirty="0"/>
          </a:p>
        </p:txBody>
      </p:sp>
      <p:sp>
        <p:nvSpPr>
          <p:cNvPr id="17" name="Shape 15"/>
          <p:cNvSpPr/>
          <p:nvPr/>
        </p:nvSpPr>
        <p:spPr>
          <a:xfrm>
            <a:off x="13322275" y="3546277"/>
            <a:ext cx="3975125" cy="1300163"/>
          </a:xfrm>
          <a:prstGeom prst="roundRect">
            <a:avLst>
              <a:gd name="adj" fmla="val 13187"/>
            </a:avLst>
          </a:prstGeom>
          <a:solidFill>
            <a:srgbClr val="FFFFFF"/>
          </a:solidFill>
          <a:ln w="14288">
            <a:solidFill>
              <a:srgbClr val="DCE4ED"/>
            </a:solidFill>
            <a:prstDash val="solid"/>
          </a:ln>
          <a:effectLst>
            <a:outerShdw blurRad="381000" dist="171450" dir="5400000" algn="bl" rotWithShape="0">
              <a:srgbClr val="102033">
                <a:alpha val="30000"/>
              </a:srgbClr>
            </a:outerShdw>
          </a:effectLst>
        </p:spPr>
      </p:sp>
      <p:sp>
        <p:nvSpPr>
          <p:cNvPr id="18" name="Text 16"/>
          <p:cNvSpPr/>
          <p:nvPr/>
        </p:nvSpPr>
        <p:spPr>
          <a:xfrm>
            <a:off x="13584213" y="3846314"/>
            <a:ext cx="3796375" cy="309563"/>
          </a:xfrm>
          <a:prstGeom prst="rect">
            <a:avLst/>
          </a:prstGeom>
          <a:noFill/>
          <a:ln/>
        </p:spPr>
        <p:txBody>
          <a:bodyPr wrap="square" lIns="25400" tIns="25400" rIns="25400" bIns="25400" rtlCol="0" anchor="t">
            <a:normAutofit/>
          </a:bodyPr>
          <a:lstStyle/>
          <a:p>
            <a:pPr marL="0" indent="0" algn="l">
              <a:buNone/>
            </a:pPr>
            <a:r>
              <a:rPr lang="en-US" sz="1650" kern="0" spc="113" dirty="0">
                <a:solidFill>
                  <a:srgbClr val="7B8794"/>
                </a:solidFill>
                <a:latin typeface="Courier New" pitchFamily="34" charset="0"/>
                <a:ea typeface="Courier New" pitchFamily="34" charset="-122"/>
                <a:cs typeface="Courier New" pitchFamily="34" charset="-120"/>
              </a:rPr>
              <a:t>CONTROL</a:t>
            </a:r>
            <a:endParaRPr lang="en-US" sz="1650" dirty="0"/>
          </a:p>
        </p:txBody>
      </p:sp>
      <p:sp>
        <p:nvSpPr>
          <p:cNvPr id="19" name="Text 17"/>
          <p:cNvSpPr/>
          <p:nvPr/>
        </p:nvSpPr>
        <p:spPr>
          <a:xfrm>
            <a:off x="13584213" y="4193977"/>
            <a:ext cx="3796375"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02033"/>
                </a:solidFill>
                <a:latin typeface="Arial" pitchFamily="34" charset="0"/>
                <a:ea typeface="Arial" pitchFamily="34" charset="-122"/>
                <a:cs typeface="Arial" pitchFamily="34" charset="-120"/>
              </a:rPr>
              <a:t>PLC / HMI</a:t>
            </a:r>
            <a:endParaRPr lang="en-US" sz="2400" dirty="0"/>
          </a:p>
        </p:txBody>
      </p:sp>
      <p:sp>
        <p:nvSpPr>
          <p:cNvPr id="20" name="Shape 18"/>
          <p:cNvSpPr/>
          <p:nvPr/>
        </p:nvSpPr>
        <p:spPr>
          <a:xfrm>
            <a:off x="990600" y="5360789"/>
            <a:ext cx="7962900" cy="2071688"/>
          </a:xfrm>
          <a:prstGeom prst="roundRect">
            <a:avLst>
              <a:gd name="adj" fmla="val 9195"/>
            </a:avLst>
          </a:prstGeom>
          <a:solidFill>
            <a:srgbClr val="FFFFFF"/>
          </a:solidFill>
          <a:ln w="9525">
            <a:solidFill>
              <a:srgbClr val="DCE4ED"/>
            </a:solidFill>
            <a:prstDash val="solid"/>
          </a:ln>
        </p:spPr>
      </p:sp>
      <p:sp>
        <p:nvSpPr>
          <p:cNvPr id="21" name="Text 19"/>
          <p:cNvSpPr/>
          <p:nvPr/>
        </p:nvSpPr>
        <p:spPr>
          <a:xfrm>
            <a:off x="1381125" y="5713214"/>
            <a:ext cx="294605" cy="404813"/>
          </a:xfrm>
          <a:prstGeom prst="rect">
            <a:avLst/>
          </a:prstGeom>
          <a:noFill/>
          <a:ln/>
        </p:spPr>
        <p:txBody>
          <a:bodyPr wrap="square" lIns="25400" tIns="25400" rIns="25400" bIns="25400" rtlCol="0" anchor="t">
            <a:normAutofit/>
          </a:bodyPr>
          <a:lstStyle/>
          <a:p>
            <a:pPr marL="0" indent="0" algn="l">
              <a:buNone/>
            </a:pPr>
            <a:r>
              <a:rPr lang="en-US" sz="2250" dirty="0">
                <a:solidFill>
                  <a:srgbClr val="1F9D55"/>
                </a:solidFill>
                <a:latin typeface="Arial" pitchFamily="34" charset="0"/>
                <a:ea typeface="Arial" pitchFamily="34" charset="-122"/>
                <a:cs typeface="Arial" pitchFamily="34" charset="-120"/>
              </a:rPr>
              <a:t>✓</a:t>
            </a:r>
            <a:endParaRPr lang="en-US" sz="2250" dirty="0"/>
          </a:p>
        </p:txBody>
      </p:sp>
      <p:sp>
        <p:nvSpPr>
          <p:cNvPr id="22" name="Text 20"/>
          <p:cNvSpPr/>
          <p:nvPr/>
        </p:nvSpPr>
        <p:spPr>
          <a:xfrm>
            <a:off x="1732880" y="5741789"/>
            <a:ext cx="885825" cy="347663"/>
          </a:xfrm>
          <a:prstGeom prst="rect">
            <a:avLst/>
          </a:prstGeom>
          <a:noFill/>
          <a:ln/>
        </p:spPr>
        <p:txBody>
          <a:bodyPr wrap="square" lIns="25400" tIns="25400" rIns="25400" bIns="25400" rtlCol="0" anchor="t">
            <a:normAutofit/>
          </a:bodyPr>
          <a:lstStyle/>
          <a:p>
            <a:pPr marL="0" indent="0" algn="l">
              <a:buNone/>
            </a:pPr>
            <a:r>
              <a:rPr lang="en-US" sz="1875" kern="0" spc="150" dirty="0">
                <a:solidFill>
                  <a:srgbClr val="1F9D55"/>
                </a:solidFill>
                <a:latin typeface="Courier New" pitchFamily="34" charset="0"/>
                <a:ea typeface="Courier New" pitchFamily="34" charset="-122"/>
                <a:cs typeface="Courier New" pitchFamily="34" charset="-120"/>
              </a:rPr>
              <a:t>IT IS</a:t>
            </a:r>
            <a:endParaRPr lang="en-US" sz="1875" dirty="0"/>
          </a:p>
        </p:txBody>
      </p:sp>
      <p:sp>
        <p:nvSpPr>
          <p:cNvPr id="23" name="Text 21"/>
          <p:cNvSpPr/>
          <p:nvPr/>
        </p:nvSpPr>
        <p:spPr>
          <a:xfrm>
            <a:off x="1381125" y="6251377"/>
            <a:ext cx="7397306"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A4759"/>
                </a:solidFill>
                <a:latin typeface="Arial" pitchFamily="34" charset="0"/>
                <a:ea typeface="Arial" pitchFamily="34" charset="-122"/>
                <a:cs typeface="Arial" pitchFamily="34" charset="-120"/>
              </a:rPr>
              <a:t>IEC 61131-9, 3-wire 24 V — identity, parameters, status, and diagnostics.</a:t>
            </a:r>
            <a:endParaRPr lang="en-US" sz="2250" dirty="0"/>
          </a:p>
        </p:txBody>
      </p:sp>
      <p:sp>
        <p:nvSpPr>
          <p:cNvPr id="24" name="Shape 22"/>
          <p:cNvSpPr/>
          <p:nvPr/>
        </p:nvSpPr>
        <p:spPr>
          <a:xfrm>
            <a:off x="9334500" y="5360789"/>
            <a:ext cx="7962900" cy="2071688"/>
          </a:xfrm>
          <a:prstGeom prst="roundRect">
            <a:avLst>
              <a:gd name="adj" fmla="val 9195"/>
            </a:avLst>
          </a:prstGeom>
          <a:solidFill>
            <a:srgbClr val="FFFFFF"/>
          </a:solidFill>
          <a:ln w="9525">
            <a:solidFill>
              <a:srgbClr val="DCE4ED"/>
            </a:solidFill>
            <a:prstDash val="solid"/>
          </a:ln>
        </p:spPr>
      </p:sp>
      <p:sp>
        <p:nvSpPr>
          <p:cNvPr id="25" name="Text 23"/>
          <p:cNvSpPr/>
          <p:nvPr/>
        </p:nvSpPr>
        <p:spPr>
          <a:xfrm>
            <a:off x="9725025" y="5713214"/>
            <a:ext cx="294010" cy="404813"/>
          </a:xfrm>
          <a:prstGeom prst="rect">
            <a:avLst/>
          </a:prstGeom>
          <a:noFill/>
          <a:ln/>
        </p:spPr>
        <p:txBody>
          <a:bodyPr wrap="square" lIns="25400" tIns="25400" rIns="25400" bIns="25400" rtlCol="0" anchor="t">
            <a:normAutofit/>
          </a:bodyPr>
          <a:lstStyle/>
          <a:p>
            <a:pPr marL="0" indent="0" algn="l">
              <a:buNone/>
            </a:pPr>
            <a:r>
              <a:rPr lang="en-US" sz="2250" dirty="0">
                <a:solidFill>
                  <a:srgbClr val="C8821B"/>
                </a:solidFill>
                <a:latin typeface="Arial" pitchFamily="34" charset="0"/>
                <a:ea typeface="Arial" pitchFamily="34" charset="-122"/>
                <a:cs typeface="Arial" pitchFamily="34" charset="-120"/>
              </a:rPr>
              <a:t>✕</a:t>
            </a:r>
            <a:endParaRPr lang="en-US" sz="2250" dirty="0"/>
          </a:p>
        </p:txBody>
      </p:sp>
      <p:sp>
        <p:nvSpPr>
          <p:cNvPr id="26" name="Text 24"/>
          <p:cNvSpPr/>
          <p:nvPr/>
        </p:nvSpPr>
        <p:spPr>
          <a:xfrm>
            <a:off x="10076185" y="5741789"/>
            <a:ext cx="1603058" cy="347663"/>
          </a:xfrm>
          <a:prstGeom prst="rect">
            <a:avLst/>
          </a:prstGeom>
          <a:noFill/>
          <a:ln/>
        </p:spPr>
        <p:txBody>
          <a:bodyPr wrap="square" lIns="25400" tIns="25400" rIns="25400" bIns="25400" rtlCol="0" anchor="t">
            <a:normAutofit/>
          </a:bodyPr>
          <a:lstStyle/>
          <a:p>
            <a:pPr marL="0" indent="0" algn="l">
              <a:buNone/>
            </a:pPr>
            <a:r>
              <a:rPr lang="en-US" sz="1875" kern="0" spc="150" dirty="0">
                <a:solidFill>
                  <a:srgbClr val="C8821B"/>
                </a:solidFill>
                <a:latin typeface="Courier New" pitchFamily="34" charset="0"/>
                <a:ea typeface="Courier New" pitchFamily="34" charset="-122"/>
                <a:cs typeface="Courier New" pitchFamily="34" charset="-120"/>
              </a:rPr>
              <a:t>IT IS NOT</a:t>
            </a:r>
            <a:endParaRPr lang="en-US" sz="1875" dirty="0"/>
          </a:p>
        </p:txBody>
      </p:sp>
      <p:sp>
        <p:nvSpPr>
          <p:cNvPr id="27" name="Text 25"/>
          <p:cNvSpPr/>
          <p:nvPr/>
        </p:nvSpPr>
        <p:spPr>
          <a:xfrm>
            <a:off x="9725025" y="6251377"/>
            <a:ext cx="7397306"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A4759"/>
                </a:solidFill>
                <a:latin typeface="Arial" pitchFamily="34" charset="0"/>
                <a:ea typeface="Arial" pitchFamily="34" charset="-122"/>
                <a:cs typeface="Arial" pitchFamily="34" charset="-120"/>
              </a:rPr>
              <a:t>A multidrop fieldbus, a PROFINET replacement, or a channel for large camera data.</a:t>
            </a:r>
            <a:endParaRPr lang="en-US" sz="2250" dirty="0"/>
          </a:p>
        </p:txBody>
      </p:sp>
      <p:sp>
        <p:nvSpPr>
          <p:cNvPr id="28" name="Shape 26"/>
          <p:cNvSpPr/>
          <p:nvPr/>
        </p:nvSpPr>
        <p:spPr>
          <a:xfrm>
            <a:off x="990600" y="9239250"/>
            <a:ext cx="16306800" cy="9525"/>
          </a:xfrm>
          <a:prstGeom prst="rect">
            <a:avLst/>
          </a:prstGeom>
          <a:solidFill>
            <a:srgbClr val="DCE4ED"/>
          </a:solidFill>
          <a:ln/>
        </p:spPr>
      </p:sp>
      <p:sp>
        <p:nvSpPr>
          <p:cNvPr id="29" name="Text 27"/>
          <p:cNvSpPr/>
          <p:nvPr/>
        </p:nvSpPr>
        <p:spPr>
          <a:xfrm>
            <a:off x="990600" y="9420225"/>
            <a:ext cx="6292803" cy="333375"/>
          </a:xfrm>
          <a:prstGeom prst="rect">
            <a:avLst/>
          </a:prstGeom>
          <a:noFill/>
          <a:ln/>
        </p:spPr>
        <p:txBody>
          <a:bodyPr wrap="square" lIns="25400" tIns="25400" rIns="25400" bIns="25400" rtlCol="0" anchor="t">
            <a:normAutofit/>
          </a:bodyPr>
          <a:lstStyle/>
          <a:p>
            <a:r>
              <a:rPr lang="en-US" sz="1800" kern="0" spc="75" dirty="0">
                <a:solidFill>
                  <a:srgbClr val="9AA8B6"/>
                </a:solidFill>
                <a:latin typeface="Courier New"/>
                <a:ea typeface="Courier New" pitchFamily="34" charset="-122"/>
                <a:cs typeface="Courier New"/>
              </a:rPr>
              <a:t> </a:t>
            </a:r>
            <a:r>
              <a:rPr lang="en-US" kern="0" spc="75">
                <a:solidFill>
                  <a:srgbClr val="7B8794"/>
                </a:solidFill>
                <a:latin typeface="Courier New"/>
                <a:ea typeface="Courier New" pitchFamily="34" charset="-122"/>
                <a:cs typeface="Courier New"/>
              </a:rPr>
              <a:t>Industrial Communication Standards</a:t>
            </a:r>
            <a:r>
              <a:rPr lang="en-US" sz="1800" kern="0" spc="75">
                <a:solidFill>
                  <a:srgbClr val="9AA8B6"/>
                </a:solidFill>
                <a:latin typeface="Courier New"/>
                <a:ea typeface="Courier New" pitchFamily="34" charset="-122"/>
                <a:cs typeface="Courier New"/>
              </a:rPr>
              <a:t>· HSHL</a:t>
            </a:r>
            <a:endParaRPr lang="en-US" sz="1800">
              <a:latin typeface="Courier New"/>
              <a:cs typeface="Courier New"/>
            </a:endParaRPr>
          </a:p>
        </p:txBody>
      </p:sp>
      <p:sp>
        <p:nvSpPr>
          <p:cNvPr id="30" name="Text 28"/>
          <p:cNvSpPr/>
          <p:nvPr/>
        </p:nvSpPr>
        <p:spPr>
          <a:xfrm>
            <a:off x="16270560" y="9420225"/>
            <a:ext cx="1103040"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03 / 12</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marL="0" indent="0" algn="l">
              <a:buNone/>
            </a:pPr>
            <a:r>
              <a:rPr lang="en-US" sz="1800" kern="0" spc="263" dirty="0">
                <a:solidFill>
                  <a:srgbClr val="0E7C71"/>
                </a:solidFill>
                <a:latin typeface="Courier New" pitchFamily="34" charset="0"/>
                <a:ea typeface="Courier New" pitchFamily="34" charset="-122"/>
                <a:cs typeface="Courier New" pitchFamily="34" charset="-120"/>
              </a:rPr>
              <a:t>CONTEXT</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marL="0" indent="0" algn="l">
              <a:lnSpc>
                <a:spcPct val="107000"/>
              </a:lnSpc>
              <a:buNone/>
            </a:pPr>
            <a:r>
              <a:rPr lang="en-US" sz="3900" b="1" kern="0" spc="-37" dirty="0">
                <a:solidFill>
                  <a:srgbClr val="102033"/>
                </a:solidFill>
                <a:latin typeface="Arial" pitchFamily="34" charset="0"/>
                <a:ea typeface="Arial" pitchFamily="34" charset="-122"/>
                <a:cs typeface="Arial" pitchFamily="34" charset="-120"/>
              </a:rPr>
              <a:t>Where IO-Link sits in an automation stack</a:t>
            </a:r>
            <a:endParaRPr lang="en-US" sz="3900" dirty="0"/>
          </a:p>
        </p:txBody>
      </p:sp>
      <p:sp>
        <p:nvSpPr>
          <p:cNvPr id="5" name="Shape 3"/>
          <p:cNvSpPr/>
          <p:nvPr/>
        </p:nvSpPr>
        <p:spPr>
          <a:xfrm>
            <a:off x="990600" y="3003352"/>
            <a:ext cx="16306800" cy="1381125"/>
          </a:xfrm>
          <a:prstGeom prst="roundRect">
            <a:avLst>
              <a:gd name="adj" fmla="val 13793"/>
            </a:avLst>
          </a:prstGeom>
          <a:solidFill>
            <a:srgbClr val="FFFFFF"/>
          </a:solidFill>
          <a:ln w="9525">
            <a:solidFill>
              <a:srgbClr val="DCE4ED"/>
            </a:solidFill>
            <a:prstDash val="solid"/>
          </a:ln>
        </p:spPr>
      </p:sp>
      <p:sp>
        <p:nvSpPr>
          <p:cNvPr id="6" name="Text 4"/>
          <p:cNvSpPr/>
          <p:nvPr/>
        </p:nvSpPr>
        <p:spPr>
          <a:xfrm>
            <a:off x="1419225" y="3343870"/>
            <a:ext cx="742950" cy="738188"/>
          </a:xfrm>
          <a:prstGeom prst="rect">
            <a:avLst/>
          </a:prstGeom>
          <a:noFill/>
          <a:ln/>
        </p:spPr>
        <p:txBody>
          <a:bodyPr wrap="square" lIns="25400" tIns="25400" rIns="25400" bIns="25400" rtlCol="0" anchor="t">
            <a:normAutofit/>
          </a:bodyPr>
          <a:lstStyle/>
          <a:p>
            <a:pPr marL="0" indent="0" algn="l">
              <a:buNone/>
            </a:pPr>
            <a:r>
              <a:rPr lang="en-US" sz="4800" b="1" dirty="0">
                <a:solidFill>
                  <a:srgbClr val="D8E1EA"/>
                </a:solidFill>
                <a:latin typeface="Arial" pitchFamily="34" charset="0"/>
                <a:ea typeface="Arial" pitchFamily="34" charset="-122"/>
                <a:cs typeface="Arial" pitchFamily="34" charset="-120"/>
              </a:rPr>
              <a:t>1</a:t>
            </a:r>
            <a:endParaRPr lang="en-US" sz="4800" dirty="0"/>
          </a:p>
        </p:txBody>
      </p:sp>
      <p:sp>
        <p:nvSpPr>
          <p:cNvPr id="7" name="Text 5"/>
          <p:cNvSpPr/>
          <p:nvPr/>
        </p:nvSpPr>
        <p:spPr>
          <a:xfrm>
            <a:off x="2409825" y="3336727"/>
            <a:ext cx="3143250" cy="323850"/>
          </a:xfrm>
          <a:prstGeom prst="rect">
            <a:avLst/>
          </a:prstGeom>
          <a:noFill/>
          <a:ln/>
        </p:spPr>
        <p:txBody>
          <a:bodyPr wrap="square" lIns="25400" tIns="25400" rIns="25400" bIns="25400" rtlCol="0" anchor="t">
            <a:normAutofit/>
          </a:bodyPr>
          <a:lstStyle/>
          <a:p>
            <a:pPr marL="0" indent="0" algn="l">
              <a:buNone/>
            </a:pPr>
            <a:r>
              <a:rPr lang="en-US" sz="1725" kern="0" spc="113" dirty="0">
                <a:solidFill>
                  <a:srgbClr val="0E7C71"/>
                </a:solidFill>
                <a:latin typeface="Courier New" pitchFamily="34" charset="0"/>
                <a:ea typeface="Courier New" pitchFamily="34" charset="-122"/>
                <a:cs typeface="Courier New" pitchFamily="34" charset="-120"/>
              </a:rPr>
              <a:t>CONTROL LEVEL</a:t>
            </a:r>
            <a:endParaRPr lang="en-US" sz="1725" dirty="0"/>
          </a:p>
        </p:txBody>
      </p:sp>
      <p:sp>
        <p:nvSpPr>
          <p:cNvPr id="8" name="Text 6"/>
          <p:cNvSpPr/>
          <p:nvPr/>
        </p:nvSpPr>
        <p:spPr>
          <a:xfrm>
            <a:off x="2409825" y="3679627"/>
            <a:ext cx="3143250" cy="409575"/>
          </a:xfrm>
          <a:prstGeom prst="rect">
            <a:avLst/>
          </a:prstGeom>
          <a:noFill/>
          <a:ln/>
        </p:spPr>
        <p:txBody>
          <a:bodyPr wrap="square" lIns="25400" tIns="25400" rIns="25400" bIns="25400" rtlCol="0" anchor="t">
            <a:normAutofit/>
          </a:bodyPr>
          <a:lstStyle/>
          <a:p>
            <a:pPr marL="0" indent="0" algn="l">
              <a:buNone/>
            </a:pPr>
            <a:r>
              <a:rPr lang="en-US" sz="2550" b="1" dirty="0">
                <a:solidFill>
                  <a:srgbClr val="102033"/>
                </a:solidFill>
                <a:latin typeface="Arial" pitchFamily="34" charset="0"/>
                <a:ea typeface="Arial" pitchFamily="34" charset="-122"/>
                <a:cs typeface="Arial" pitchFamily="34" charset="-120"/>
              </a:rPr>
              <a:t>PLC + HMI</a:t>
            </a:r>
            <a:endParaRPr lang="en-US" sz="2550" dirty="0"/>
          </a:p>
        </p:txBody>
      </p:sp>
      <p:sp>
        <p:nvSpPr>
          <p:cNvPr id="9" name="Text 7"/>
          <p:cNvSpPr/>
          <p:nvPr/>
        </p:nvSpPr>
        <p:spPr>
          <a:xfrm>
            <a:off x="5591175" y="3500586"/>
            <a:ext cx="12405360" cy="424755"/>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5F7185"/>
                </a:solidFill>
                <a:latin typeface="Arial" pitchFamily="34" charset="0"/>
                <a:ea typeface="Arial" pitchFamily="34" charset="-122"/>
                <a:cs typeface="Arial" pitchFamily="34" charset="-120"/>
              </a:rPr>
              <a:t>Decision logic and supervision.</a:t>
            </a:r>
            <a:endParaRPr lang="en-US" sz="2175" dirty="0"/>
          </a:p>
        </p:txBody>
      </p:sp>
      <p:sp>
        <p:nvSpPr>
          <p:cNvPr id="10" name="Shape 8"/>
          <p:cNvSpPr/>
          <p:nvPr/>
        </p:nvSpPr>
        <p:spPr>
          <a:xfrm>
            <a:off x="990600" y="4613077"/>
            <a:ext cx="16306800" cy="1381125"/>
          </a:xfrm>
          <a:prstGeom prst="roundRect">
            <a:avLst>
              <a:gd name="adj" fmla="val 13793"/>
            </a:avLst>
          </a:prstGeom>
          <a:solidFill>
            <a:srgbClr val="EAF7F4"/>
          </a:solidFill>
          <a:ln w="9525">
            <a:solidFill>
              <a:srgbClr val="BFE6DF"/>
            </a:solidFill>
            <a:prstDash val="solid"/>
          </a:ln>
        </p:spPr>
      </p:sp>
      <p:sp>
        <p:nvSpPr>
          <p:cNvPr id="11" name="Text 9"/>
          <p:cNvSpPr/>
          <p:nvPr/>
        </p:nvSpPr>
        <p:spPr>
          <a:xfrm>
            <a:off x="1419225" y="4953595"/>
            <a:ext cx="742950" cy="738188"/>
          </a:xfrm>
          <a:prstGeom prst="rect">
            <a:avLst/>
          </a:prstGeom>
          <a:noFill/>
          <a:ln/>
        </p:spPr>
        <p:txBody>
          <a:bodyPr wrap="square" lIns="25400" tIns="25400" rIns="25400" bIns="25400" rtlCol="0" anchor="t">
            <a:normAutofit/>
          </a:bodyPr>
          <a:lstStyle/>
          <a:p>
            <a:pPr marL="0" indent="0" algn="l">
              <a:buNone/>
            </a:pPr>
            <a:r>
              <a:rPr lang="en-US" sz="4800" b="1" dirty="0">
                <a:solidFill>
                  <a:srgbClr val="9FD8CE"/>
                </a:solidFill>
                <a:latin typeface="Arial" pitchFamily="34" charset="0"/>
                <a:ea typeface="Arial" pitchFamily="34" charset="-122"/>
                <a:cs typeface="Arial" pitchFamily="34" charset="-120"/>
              </a:rPr>
              <a:t>2</a:t>
            </a:r>
            <a:endParaRPr lang="en-US" sz="4800" dirty="0"/>
          </a:p>
        </p:txBody>
      </p:sp>
      <p:sp>
        <p:nvSpPr>
          <p:cNvPr id="12" name="Text 10"/>
          <p:cNvSpPr/>
          <p:nvPr/>
        </p:nvSpPr>
        <p:spPr>
          <a:xfrm>
            <a:off x="2409825" y="4946452"/>
            <a:ext cx="3143250" cy="323850"/>
          </a:xfrm>
          <a:prstGeom prst="rect">
            <a:avLst/>
          </a:prstGeom>
          <a:noFill/>
          <a:ln/>
        </p:spPr>
        <p:txBody>
          <a:bodyPr wrap="square" lIns="25400" tIns="25400" rIns="25400" bIns="25400" rtlCol="0" anchor="t">
            <a:normAutofit/>
          </a:bodyPr>
          <a:lstStyle/>
          <a:p>
            <a:pPr marL="0" indent="0" algn="l">
              <a:buNone/>
            </a:pPr>
            <a:r>
              <a:rPr lang="en-US" sz="1725" kern="0" spc="113" dirty="0">
                <a:solidFill>
                  <a:srgbClr val="0E7C71"/>
                </a:solidFill>
                <a:latin typeface="Courier New" pitchFamily="34" charset="0"/>
                <a:ea typeface="Courier New" pitchFamily="34" charset="-122"/>
                <a:cs typeface="Courier New" pitchFamily="34" charset="-120"/>
              </a:rPr>
              <a:t>GATEWAY LEVEL</a:t>
            </a:r>
            <a:endParaRPr lang="en-US" sz="1725" dirty="0"/>
          </a:p>
        </p:txBody>
      </p:sp>
      <p:sp>
        <p:nvSpPr>
          <p:cNvPr id="13" name="Text 11"/>
          <p:cNvSpPr/>
          <p:nvPr/>
        </p:nvSpPr>
        <p:spPr>
          <a:xfrm>
            <a:off x="2409825" y="5289352"/>
            <a:ext cx="3143250" cy="409575"/>
          </a:xfrm>
          <a:prstGeom prst="rect">
            <a:avLst/>
          </a:prstGeom>
          <a:noFill/>
          <a:ln/>
        </p:spPr>
        <p:txBody>
          <a:bodyPr wrap="square" lIns="25400" tIns="25400" rIns="25400" bIns="25400" rtlCol="0" anchor="t">
            <a:normAutofit/>
          </a:bodyPr>
          <a:lstStyle/>
          <a:p>
            <a:pPr marL="0" indent="0" algn="l">
              <a:buNone/>
            </a:pPr>
            <a:r>
              <a:rPr lang="en-US" sz="2550" b="1" dirty="0">
                <a:solidFill>
                  <a:srgbClr val="0E7C71"/>
                </a:solidFill>
                <a:latin typeface="Arial" pitchFamily="34" charset="0"/>
                <a:ea typeface="Arial" pitchFamily="34" charset="-122"/>
                <a:cs typeface="Arial" pitchFamily="34" charset="-120"/>
              </a:rPr>
              <a:t>IO-Link master</a:t>
            </a:r>
            <a:endParaRPr lang="en-US" sz="2550" dirty="0"/>
          </a:p>
        </p:txBody>
      </p:sp>
      <p:sp>
        <p:nvSpPr>
          <p:cNvPr id="14" name="Text 12"/>
          <p:cNvSpPr/>
          <p:nvPr/>
        </p:nvSpPr>
        <p:spPr>
          <a:xfrm>
            <a:off x="5591175" y="5110311"/>
            <a:ext cx="12405360" cy="424755"/>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1C3A36"/>
                </a:solidFill>
                <a:latin typeface="Arial" pitchFamily="34" charset="0"/>
                <a:ea typeface="Arial" pitchFamily="34" charset="-122"/>
                <a:cs typeface="Arial" pitchFamily="34" charset="-120"/>
              </a:rPr>
              <a:t>Bridge between IO-Link and the plant fieldbus.</a:t>
            </a:r>
            <a:endParaRPr lang="en-US" sz="2175" dirty="0"/>
          </a:p>
        </p:txBody>
      </p:sp>
      <p:sp>
        <p:nvSpPr>
          <p:cNvPr id="15" name="Shape 13"/>
          <p:cNvSpPr/>
          <p:nvPr/>
        </p:nvSpPr>
        <p:spPr>
          <a:xfrm>
            <a:off x="990600" y="6222802"/>
            <a:ext cx="16306800" cy="1752600"/>
          </a:xfrm>
          <a:prstGeom prst="roundRect">
            <a:avLst>
              <a:gd name="adj" fmla="val 10870"/>
            </a:avLst>
          </a:prstGeom>
          <a:solidFill>
            <a:srgbClr val="FFFFFF"/>
          </a:solidFill>
          <a:ln w="9525">
            <a:solidFill>
              <a:srgbClr val="DCE4ED"/>
            </a:solidFill>
            <a:prstDash val="solid"/>
          </a:ln>
        </p:spPr>
      </p:sp>
      <p:sp>
        <p:nvSpPr>
          <p:cNvPr id="16" name="Text 14"/>
          <p:cNvSpPr/>
          <p:nvPr/>
        </p:nvSpPr>
        <p:spPr>
          <a:xfrm>
            <a:off x="1419225" y="6749058"/>
            <a:ext cx="742950" cy="738188"/>
          </a:xfrm>
          <a:prstGeom prst="rect">
            <a:avLst/>
          </a:prstGeom>
          <a:noFill/>
          <a:ln/>
        </p:spPr>
        <p:txBody>
          <a:bodyPr wrap="square" lIns="25400" tIns="25400" rIns="25400" bIns="25400" rtlCol="0" anchor="t">
            <a:normAutofit/>
          </a:bodyPr>
          <a:lstStyle/>
          <a:p>
            <a:pPr marL="0" indent="0" algn="l">
              <a:buNone/>
            </a:pPr>
            <a:r>
              <a:rPr lang="en-US" sz="4800" b="1" dirty="0">
                <a:solidFill>
                  <a:srgbClr val="D8E1EA"/>
                </a:solidFill>
                <a:latin typeface="Arial" pitchFamily="34" charset="0"/>
                <a:ea typeface="Arial" pitchFamily="34" charset="-122"/>
                <a:cs typeface="Arial" pitchFamily="34" charset="-120"/>
              </a:rPr>
              <a:t>3</a:t>
            </a:r>
            <a:endParaRPr lang="en-US" sz="4800" dirty="0"/>
          </a:p>
        </p:txBody>
      </p:sp>
      <p:sp>
        <p:nvSpPr>
          <p:cNvPr id="17" name="Text 15"/>
          <p:cNvSpPr/>
          <p:nvPr/>
        </p:nvSpPr>
        <p:spPr>
          <a:xfrm>
            <a:off x="2409825" y="6556177"/>
            <a:ext cx="3143250" cy="323850"/>
          </a:xfrm>
          <a:prstGeom prst="rect">
            <a:avLst/>
          </a:prstGeom>
          <a:noFill/>
          <a:ln/>
        </p:spPr>
        <p:txBody>
          <a:bodyPr wrap="square" lIns="25400" tIns="25400" rIns="25400" bIns="25400" rtlCol="0" anchor="t">
            <a:normAutofit/>
          </a:bodyPr>
          <a:lstStyle/>
          <a:p>
            <a:pPr marL="0" indent="0" algn="l">
              <a:buNone/>
            </a:pPr>
            <a:r>
              <a:rPr lang="en-US" sz="1725" kern="0" spc="113" dirty="0">
                <a:solidFill>
                  <a:srgbClr val="0E7C71"/>
                </a:solidFill>
                <a:latin typeface="Courier New" pitchFamily="34" charset="0"/>
                <a:ea typeface="Courier New" pitchFamily="34" charset="-122"/>
                <a:cs typeface="Courier New" pitchFamily="34" charset="-120"/>
              </a:rPr>
              <a:t>FIELD LEVEL</a:t>
            </a:r>
            <a:endParaRPr lang="en-US" sz="1725" dirty="0"/>
          </a:p>
        </p:txBody>
      </p:sp>
      <p:sp>
        <p:nvSpPr>
          <p:cNvPr id="18" name="Text 16"/>
          <p:cNvSpPr/>
          <p:nvPr/>
        </p:nvSpPr>
        <p:spPr>
          <a:xfrm>
            <a:off x="2409825" y="6899077"/>
            <a:ext cx="2943225" cy="781050"/>
          </a:xfrm>
          <a:prstGeom prst="rect">
            <a:avLst/>
          </a:prstGeom>
          <a:noFill/>
          <a:ln/>
        </p:spPr>
        <p:txBody>
          <a:bodyPr wrap="square" lIns="25400" tIns="25400" rIns="25400" bIns="25400" rtlCol="0" anchor="t">
            <a:normAutofit/>
          </a:bodyPr>
          <a:lstStyle/>
          <a:p>
            <a:pPr marL="0" indent="0" algn="l">
              <a:buNone/>
            </a:pPr>
            <a:r>
              <a:rPr lang="en-US" sz="2550" b="1" dirty="0">
                <a:solidFill>
                  <a:srgbClr val="102033"/>
                </a:solidFill>
                <a:latin typeface="Arial" pitchFamily="34" charset="0"/>
                <a:ea typeface="Arial" pitchFamily="34" charset="-122"/>
                <a:cs typeface="Arial" pitchFamily="34" charset="-120"/>
              </a:rPr>
              <a:t>Sensors + actuators</a:t>
            </a:r>
            <a:endParaRPr lang="en-US" sz="2550" dirty="0"/>
          </a:p>
        </p:txBody>
      </p:sp>
      <p:sp>
        <p:nvSpPr>
          <p:cNvPr id="19" name="Text 17"/>
          <p:cNvSpPr/>
          <p:nvPr/>
        </p:nvSpPr>
        <p:spPr>
          <a:xfrm>
            <a:off x="5591175" y="6905774"/>
            <a:ext cx="12405360" cy="424755"/>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5F7185"/>
                </a:solidFill>
                <a:latin typeface="Arial" pitchFamily="34" charset="0"/>
                <a:ea typeface="Arial" pitchFamily="34" charset="-122"/>
                <a:cs typeface="Arial" pitchFamily="34" charset="-120"/>
              </a:rPr>
              <a:t>IO-Link devices live here.</a:t>
            </a:r>
            <a:endParaRPr lang="en-US" sz="2175" dirty="0"/>
          </a:p>
        </p:txBody>
      </p:sp>
      <p:sp>
        <p:nvSpPr>
          <p:cNvPr id="20" name="Shape 18"/>
          <p:cNvSpPr/>
          <p:nvPr/>
        </p:nvSpPr>
        <p:spPr>
          <a:xfrm>
            <a:off x="990600" y="9239250"/>
            <a:ext cx="16306800" cy="9525"/>
          </a:xfrm>
          <a:prstGeom prst="rect">
            <a:avLst/>
          </a:prstGeom>
          <a:solidFill>
            <a:srgbClr val="DCE4ED"/>
          </a:solidFill>
          <a:ln/>
        </p:spPr>
      </p:sp>
      <p:sp>
        <p:nvSpPr>
          <p:cNvPr id="21" name="Text 19"/>
          <p:cNvSpPr/>
          <p:nvPr/>
        </p:nvSpPr>
        <p:spPr>
          <a:xfrm>
            <a:off x="990600" y="9420225"/>
            <a:ext cx="7745001"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One message: IO-Link belongs at the device edge.</a:t>
            </a:r>
            <a:endParaRPr lang="en-US" sz="1800" dirty="0"/>
          </a:p>
        </p:txBody>
      </p:sp>
      <p:sp>
        <p:nvSpPr>
          <p:cNvPr id="22" name="Text 20"/>
          <p:cNvSpPr/>
          <p:nvPr/>
        </p:nvSpPr>
        <p:spPr>
          <a:xfrm>
            <a:off x="16270560" y="9420225"/>
            <a:ext cx="1103040"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04 / 12</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marL="0" indent="0" algn="l">
              <a:buNone/>
            </a:pPr>
            <a:r>
              <a:rPr lang="en-US" sz="1800" kern="0" spc="263" dirty="0">
                <a:solidFill>
                  <a:srgbClr val="0E7C71"/>
                </a:solidFill>
                <a:latin typeface="Courier New" pitchFamily="34" charset="0"/>
                <a:ea typeface="Courier New" pitchFamily="34" charset="-122"/>
                <a:cs typeface="Courier New" pitchFamily="34" charset="-120"/>
              </a:rPr>
              <a:t>LAYER 1 · PHYSICAL</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marL="0" indent="0" algn="l">
              <a:lnSpc>
                <a:spcPct val="107000"/>
              </a:lnSpc>
              <a:buNone/>
            </a:pPr>
            <a:r>
              <a:rPr lang="en-US" sz="3900" b="1" kern="0" spc="-37" dirty="0">
                <a:solidFill>
                  <a:srgbClr val="102033"/>
                </a:solidFill>
                <a:latin typeface="Arial" pitchFamily="34" charset="0"/>
                <a:ea typeface="Arial" pitchFamily="34" charset="-122"/>
                <a:cs typeface="Arial" pitchFamily="34" charset="-120"/>
              </a:rPr>
              <a:t>Physical connection and master-port classes</a:t>
            </a:r>
            <a:endParaRPr lang="en-US" sz="3900" dirty="0"/>
          </a:p>
        </p:txBody>
      </p:sp>
      <p:sp>
        <p:nvSpPr>
          <p:cNvPr id="5" name="Shape 3"/>
          <p:cNvSpPr/>
          <p:nvPr/>
        </p:nvSpPr>
        <p:spPr>
          <a:xfrm>
            <a:off x="990600" y="2139628"/>
            <a:ext cx="8575253" cy="6699572"/>
          </a:xfrm>
          <a:prstGeom prst="roundRect">
            <a:avLst>
              <a:gd name="adj" fmla="val 3128"/>
            </a:avLst>
          </a:prstGeom>
          <a:solidFill>
            <a:srgbClr val="FFFFFF"/>
          </a:solidFill>
          <a:ln w="9525">
            <a:solidFill>
              <a:srgbClr val="DCE4ED"/>
            </a:solidFill>
            <a:prstDash val="solid"/>
          </a:ln>
        </p:spPr>
      </p:sp>
      <p:sp>
        <p:nvSpPr>
          <p:cNvPr id="6" name="Text 4"/>
          <p:cNvSpPr/>
          <p:nvPr/>
        </p:nvSpPr>
        <p:spPr>
          <a:xfrm>
            <a:off x="1419225" y="2549203"/>
            <a:ext cx="8489804" cy="333375"/>
          </a:xfrm>
          <a:prstGeom prst="rect">
            <a:avLst/>
          </a:prstGeom>
          <a:noFill/>
          <a:ln/>
        </p:spPr>
        <p:txBody>
          <a:bodyPr wrap="square" lIns="25400" tIns="25400" rIns="25400" bIns="25400" rtlCol="0" anchor="t">
            <a:normAutofit/>
          </a:bodyPr>
          <a:lstStyle/>
          <a:p>
            <a:pPr marL="0" indent="0" algn="l">
              <a:buNone/>
            </a:pPr>
            <a:r>
              <a:rPr lang="en-US" sz="1800" kern="0" spc="150" dirty="0">
                <a:solidFill>
                  <a:srgbClr val="0E7C71"/>
                </a:solidFill>
                <a:latin typeface="Courier New" pitchFamily="34" charset="0"/>
                <a:ea typeface="Courier New" pitchFamily="34" charset="-122"/>
                <a:cs typeface="Courier New" pitchFamily="34" charset="-120"/>
              </a:rPr>
              <a:t>PIN ASSIGNMENT</a:t>
            </a:r>
            <a:endParaRPr lang="en-US" sz="1800" dirty="0"/>
          </a:p>
        </p:txBody>
      </p:sp>
      <p:sp>
        <p:nvSpPr>
          <p:cNvPr id="7" name="Text 5"/>
          <p:cNvSpPr/>
          <p:nvPr/>
        </p:nvSpPr>
        <p:spPr>
          <a:xfrm>
            <a:off x="1419225" y="4608314"/>
            <a:ext cx="990600" cy="533400"/>
          </a:xfrm>
          <a:prstGeom prst="rect">
            <a:avLst/>
          </a:prstGeom>
          <a:noFill/>
          <a:ln/>
        </p:spPr>
        <p:txBody>
          <a:bodyPr wrap="square" lIns="25400" tIns="25400" rIns="25400" bIns="25400" rtlCol="0" anchor="t">
            <a:normAutofit/>
          </a:bodyPr>
          <a:lstStyle/>
          <a:p>
            <a:pPr marL="0" indent="0" algn="l">
              <a:buNone/>
            </a:pPr>
            <a:r>
              <a:rPr lang="en-US" sz="3000" dirty="0">
                <a:solidFill>
                  <a:srgbClr val="276EF1"/>
                </a:solidFill>
                <a:latin typeface="Courier New" pitchFamily="34" charset="0"/>
                <a:ea typeface="Courier New" pitchFamily="34" charset="-122"/>
                <a:cs typeface="Courier New" pitchFamily="34" charset="-120"/>
              </a:rPr>
              <a:t>L+</a:t>
            </a:r>
            <a:endParaRPr lang="en-US" sz="3000" dirty="0"/>
          </a:p>
        </p:txBody>
      </p:sp>
      <p:sp>
        <p:nvSpPr>
          <p:cNvPr id="8" name="Text 6"/>
          <p:cNvSpPr/>
          <p:nvPr/>
        </p:nvSpPr>
        <p:spPr>
          <a:xfrm>
            <a:off x="2581275" y="4672608"/>
            <a:ext cx="1652416" cy="404813"/>
          </a:xfrm>
          <a:prstGeom prst="rect">
            <a:avLst/>
          </a:prstGeom>
          <a:noFill/>
          <a:ln/>
        </p:spPr>
        <p:txBody>
          <a:bodyPr wrap="square" lIns="25400" tIns="25400" rIns="25400" bIns="25400" rtlCol="0" anchor="t">
            <a:normAutofit/>
          </a:bodyPr>
          <a:lstStyle/>
          <a:p>
            <a:pPr marL="0" indent="0" algn="l">
              <a:buNone/>
            </a:pPr>
            <a:r>
              <a:rPr lang="en-US" sz="2250" dirty="0">
                <a:solidFill>
                  <a:srgbClr val="3A4759"/>
                </a:solidFill>
                <a:latin typeface="Arial" pitchFamily="34" charset="0"/>
                <a:ea typeface="Arial" pitchFamily="34" charset="-122"/>
                <a:cs typeface="Arial" pitchFamily="34" charset="-120"/>
              </a:rPr>
              <a:t>24 V supply</a:t>
            </a:r>
            <a:endParaRPr lang="en-US" sz="2250" dirty="0"/>
          </a:p>
        </p:txBody>
      </p:sp>
      <p:sp>
        <p:nvSpPr>
          <p:cNvPr id="9" name="Shape 7"/>
          <p:cNvSpPr/>
          <p:nvPr/>
        </p:nvSpPr>
        <p:spPr>
          <a:xfrm>
            <a:off x="1419225" y="5313164"/>
            <a:ext cx="7718003" cy="9525"/>
          </a:xfrm>
          <a:prstGeom prst="rect">
            <a:avLst/>
          </a:prstGeom>
          <a:solidFill>
            <a:srgbClr val="EBF0F5"/>
          </a:solidFill>
          <a:ln/>
        </p:spPr>
      </p:sp>
      <p:sp>
        <p:nvSpPr>
          <p:cNvPr id="10" name="Text 8"/>
          <p:cNvSpPr/>
          <p:nvPr/>
        </p:nvSpPr>
        <p:spPr>
          <a:xfrm>
            <a:off x="1419225" y="5532239"/>
            <a:ext cx="990600" cy="533400"/>
          </a:xfrm>
          <a:prstGeom prst="rect">
            <a:avLst/>
          </a:prstGeom>
          <a:noFill/>
          <a:ln/>
        </p:spPr>
        <p:txBody>
          <a:bodyPr wrap="square" lIns="25400" tIns="25400" rIns="25400" bIns="25400" rtlCol="0" anchor="t">
            <a:normAutofit/>
          </a:bodyPr>
          <a:lstStyle/>
          <a:p>
            <a:pPr marL="0" indent="0" algn="l">
              <a:buNone/>
            </a:pPr>
            <a:r>
              <a:rPr lang="en-US" sz="3000" dirty="0">
                <a:solidFill>
                  <a:srgbClr val="5F7185"/>
                </a:solidFill>
                <a:latin typeface="Courier New" pitchFamily="34" charset="0"/>
                <a:ea typeface="Courier New" pitchFamily="34" charset="-122"/>
                <a:cs typeface="Courier New" pitchFamily="34" charset="-120"/>
              </a:rPr>
              <a:t>L−</a:t>
            </a:r>
            <a:endParaRPr lang="en-US" sz="3000" dirty="0"/>
          </a:p>
        </p:txBody>
      </p:sp>
      <p:sp>
        <p:nvSpPr>
          <p:cNvPr id="11" name="Text 9"/>
          <p:cNvSpPr/>
          <p:nvPr/>
        </p:nvSpPr>
        <p:spPr>
          <a:xfrm>
            <a:off x="2581275" y="5596533"/>
            <a:ext cx="1397518" cy="404813"/>
          </a:xfrm>
          <a:prstGeom prst="rect">
            <a:avLst/>
          </a:prstGeom>
          <a:noFill/>
          <a:ln/>
        </p:spPr>
        <p:txBody>
          <a:bodyPr wrap="square" lIns="25400" tIns="25400" rIns="25400" bIns="25400" rtlCol="0" anchor="t">
            <a:normAutofit/>
          </a:bodyPr>
          <a:lstStyle/>
          <a:p>
            <a:pPr marL="0" indent="0" algn="l">
              <a:buNone/>
            </a:pPr>
            <a:r>
              <a:rPr lang="en-US" sz="2250" dirty="0">
                <a:solidFill>
                  <a:srgbClr val="3A4759"/>
                </a:solidFill>
                <a:latin typeface="Arial" pitchFamily="34" charset="0"/>
                <a:ea typeface="Arial" pitchFamily="34" charset="-122"/>
                <a:cs typeface="Arial" pitchFamily="34" charset="-120"/>
              </a:rPr>
              <a:t>0 V return</a:t>
            </a:r>
            <a:endParaRPr lang="en-US" sz="2250" dirty="0"/>
          </a:p>
        </p:txBody>
      </p:sp>
      <p:sp>
        <p:nvSpPr>
          <p:cNvPr id="12" name="Shape 10"/>
          <p:cNvSpPr/>
          <p:nvPr/>
        </p:nvSpPr>
        <p:spPr>
          <a:xfrm>
            <a:off x="1419225" y="6237089"/>
            <a:ext cx="7718003" cy="9525"/>
          </a:xfrm>
          <a:prstGeom prst="rect">
            <a:avLst/>
          </a:prstGeom>
          <a:solidFill>
            <a:srgbClr val="EBF0F5"/>
          </a:solidFill>
          <a:ln/>
        </p:spPr>
      </p:sp>
      <p:sp>
        <p:nvSpPr>
          <p:cNvPr id="13" name="Text 11"/>
          <p:cNvSpPr/>
          <p:nvPr/>
        </p:nvSpPr>
        <p:spPr>
          <a:xfrm>
            <a:off x="1419225" y="6456164"/>
            <a:ext cx="990600" cy="533400"/>
          </a:xfrm>
          <a:prstGeom prst="rect">
            <a:avLst/>
          </a:prstGeom>
          <a:noFill/>
          <a:ln/>
        </p:spPr>
        <p:txBody>
          <a:bodyPr wrap="square" lIns="25400" tIns="25400" rIns="25400" bIns="25400" rtlCol="0" anchor="t">
            <a:normAutofit/>
          </a:bodyPr>
          <a:lstStyle/>
          <a:p>
            <a:pPr marL="0" indent="0" algn="l">
              <a:buNone/>
            </a:pPr>
            <a:r>
              <a:rPr lang="en-US" sz="3000" dirty="0">
                <a:solidFill>
                  <a:srgbClr val="0E7C71"/>
                </a:solidFill>
                <a:latin typeface="Courier New" pitchFamily="34" charset="0"/>
                <a:ea typeface="Courier New" pitchFamily="34" charset="-122"/>
                <a:cs typeface="Courier New" pitchFamily="34" charset="-120"/>
              </a:rPr>
              <a:t>C/Q</a:t>
            </a:r>
            <a:endParaRPr lang="en-US" sz="3000" dirty="0"/>
          </a:p>
        </p:txBody>
      </p:sp>
      <p:sp>
        <p:nvSpPr>
          <p:cNvPr id="14" name="Text 12"/>
          <p:cNvSpPr/>
          <p:nvPr/>
        </p:nvSpPr>
        <p:spPr>
          <a:xfrm>
            <a:off x="2581275" y="6520458"/>
            <a:ext cx="3540003" cy="404813"/>
          </a:xfrm>
          <a:prstGeom prst="rect">
            <a:avLst/>
          </a:prstGeom>
          <a:noFill/>
          <a:ln/>
        </p:spPr>
        <p:txBody>
          <a:bodyPr wrap="square" lIns="25400" tIns="25400" rIns="25400" bIns="25400" rtlCol="0" anchor="t">
            <a:normAutofit/>
          </a:bodyPr>
          <a:lstStyle/>
          <a:p>
            <a:pPr marL="0" indent="0" algn="l">
              <a:buNone/>
            </a:pPr>
            <a:r>
              <a:rPr lang="en-US" sz="2250" dirty="0">
                <a:solidFill>
                  <a:srgbClr val="3A4759"/>
                </a:solidFill>
                <a:latin typeface="Arial" pitchFamily="34" charset="0"/>
                <a:ea typeface="Arial" pitchFamily="34" charset="-122"/>
                <a:cs typeface="Arial" pitchFamily="34" charset="-120"/>
              </a:rPr>
              <a:t>switching or IO-Link data</a:t>
            </a:r>
            <a:endParaRPr lang="en-US" sz="2250" dirty="0"/>
          </a:p>
        </p:txBody>
      </p:sp>
      <p:sp>
        <p:nvSpPr>
          <p:cNvPr id="15" name="Shape 13"/>
          <p:cNvSpPr/>
          <p:nvPr/>
        </p:nvSpPr>
        <p:spPr>
          <a:xfrm>
            <a:off x="9946853" y="2139628"/>
            <a:ext cx="7350547" cy="2080766"/>
          </a:xfrm>
          <a:prstGeom prst="roundRect">
            <a:avLst>
              <a:gd name="adj" fmla="val 8240"/>
            </a:avLst>
          </a:prstGeom>
          <a:solidFill>
            <a:srgbClr val="FFFFFF"/>
          </a:solidFill>
          <a:ln w="9525">
            <a:solidFill>
              <a:srgbClr val="DCE4ED"/>
            </a:solidFill>
            <a:prstDash val="solid"/>
          </a:ln>
        </p:spPr>
      </p:sp>
      <p:sp>
        <p:nvSpPr>
          <p:cNvPr id="16" name="Text 14"/>
          <p:cNvSpPr/>
          <p:nvPr/>
        </p:nvSpPr>
        <p:spPr>
          <a:xfrm>
            <a:off x="10299278" y="2613794"/>
            <a:ext cx="7310266" cy="309563"/>
          </a:xfrm>
          <a:prstGeom prst="rect">
            <a:avLst/>
          </a:prstGeom>
          <a:noFill/>
          <a:ln/>
        </p:spPr>
        <p:txBody>
          <a:bodyPr wrap="square" lIns="25400" tIns="25400" rIns="25400" bIns="25400" rtlCol="0" anchor="t">
            <a:normAutofit/>
          </a:bodyPr>
          <a:lstStyle/>
          <a:p>
            <a:pPr marL="0" indent="0" algn="l">
              <a:buNone/>
            </a:pPr>
            <a:r>
              <a:rPr lang="en-US" sz="1650" kern="0" spc="113" dirty="0">
                <a:solidFill>
                  <a:srgbClr val="0E7C71"/>
                </a:solidFill>
                <a:latin typeface="Courier New" pitchFamily="34" charset="0"/>
                <a:ea typeface="Courier New" pitchFamily="34" charset="-122"/>
                <a:cs typeface="Courier New" pitchFamily="34" charset="-120"/>
              </a:rPr>
              <a:t>C/Q BEHAVIOR</a:t>
            </a:r>
            <a:endParaRPr lang="en-US" sz="1650" dirty="0"/>
          </a:p>
        </p:txBody>
      </p:sp>
      <p:sp>
        <p:nvSpPr>
          <p:cNvPr id="17" name="Text 15"/>
          <p:cNvSpPr/>
          <p:nvPr/>
        </p:nvSpPr>
        <p:spPr>
          <a:xfrm>
            <a:off x="10299278" y="2999556"/>
            <a:ext cx="6845068" cy="784771"/>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3A4759"/>
                </a:solidFill>
                <a:latin typeface="Arial" pitchFamily="34" charset="0"/>
                <a:ea typeface="Arial" pitchFamily="34" charset="-122"/>
                <a:cs typeface="Arial" pitchFamily="34" charset="-120"/>
              </a:rPr>
              <a:t>Starts as SIO switching, then changes to IO-Link after master negotiation.</a:t>
            </a:r>
            <a:endParaRPr lang="en-US" sz="2100" dirty="0"/>
          </a:p>
        </p:txBody>
      </p:sp>
      <p:sp>
        <p:nvSpPr>
          <p:cNvPr id="18" name="Shape 16"/>
          <p:cNvSpPr/>
          <p:nvPr/>
        </p:nvSpPr>
        <p:spPr>
          <a:xfrm>
            <a:off x="9946853" y="4448994"/>
            <a:ext cx="7350547" cy="2080840"/>
          </a:xfrm>
          <a:prstGeom prst="roundRect">
            <a:avLst>
              <a:gd name="adj" fmla="val 8239"/>
            </a:avLst>
          </a:prstGeom>
          <a:solidFill>
            <a:srgbClr val="FFFFFF"/>
          </a:solidFill>
          <a:ln w="9525">
            <a:solidFill>
              <a:srgbClr val="DCE4ED"/>
            </a:solidFill>
            <a:prstDash val="solid"/>
          </a:ln>
        </p:spPr>
      </p:sp>
      <p:sp>
        <p:nvSpPr>
          <p:cNvPr id="19" name="Text 17"/>
          <p:cNvSpPr/>
          <p:nvPr/>
        </p:nvSpPr>
        <p:spPr>
          <a:xfrm>
            <a:off x="10299278" y="5109865"/>
            <a:ext cx="7310266" cy="309563"/>
          </a:xfrm>
          <a:prstGeom prst="rect">
            <a:avLst/>
          </a:prstGeom>
          <a:noFill/>
          <a:ln/>
        </p:spPr>
        <p:txBody>
          <a:bodyPr wrap="square" lIns="25400" tIns="25400" rIns="25400" bIns="25400" rtlCol="0" anchor="t">
            <a:normAutofit/>
          </a:bodyPr>
          <a:lstStyle/>
          <a:p>
            <a:pPr marL="0" indent="0" algn="l">
              <a:buNone/>
            </a:pPr>
            <a:r>
              <a:rPr lang="en-US" sz="1650" kern="0" spc="113" dirty="0">
                <a:solidFill>
                  <a:srgbClr val="0E7C71"/>
                </a:solidFill>
                <a:latin typeface="Courier New" pitchFamily="34" charset="0"/>
                <a:ea typeface="Courier New" pitchFamily="34" charset="-122"/>
                <a:cs typeface="Courier New" pitchFamily="34" charset="-120"/>
              </a:rPr>
              <a:t>M8 / M12 CONNECTORS</a:t>
            </a:r>
            <a:endParaRPr lang="en-US" sz="1650" dirty="0"/>
          </a:p>
        </p:txBody>
      </p:sp>
      <p:sp>
        <p:nvSpPr>
          <p:cNvPr id="20" name="Text 18"/>
          <p:cNvSpPr/>
          <p:nvPr/>
        </p:nvSpPr>
        <p:spPr>
          <a:xfrm>
            <a:off x="10299278" y="5495627"/>
            <a:ext cx="7310266" cy="411435"/>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3A4759"/>
                </a:solidFill>
                <a:latin typeface="Arial" pitchFamily="34" charset="0"/>
                <a:ea typeface="Arial" pitchFamily="34" charset="-122"/>
                <a:cs typeface="Arial" pitchFamily="34" charset="-120"/>
              </a:rPr>
              <a:t>Unshielded cable up to 20 m for typical sensors.</a:t>
            </a:r>
            <a:endParaRPr lang="en-US" sz="2100" dirty="0"/>
          </a:p>
        </p:txBody>
      </p:sp>
      <p:sp>
        <p:nvSpPr>
          <p:cNvPr id="21" name="Shape 19"/>
          <p:cNvSpPr/>
          <p:nvPr/>
        </p:nvSpPr>
        <p:spPr>
          <a:xfrm>
            <a:off x="9946853" y="6758434"/>
            <a:ext cx="7350547" cy="2080766"/>
          </a:xfrm>
          <a:prstGeom prst="roundRect">
            <a:avLst>
              <a:gd name="adj" fmla="val 8240"/>
            </a:avLst>
          </a:prstGeom>
          <a:solidFill>
            <a:srgbClr val="FFFFFF"/>
          </a:solidFill>
          <a:ln w="9525">
            <a:solidFill>
              <a:srgbClr val="DCE4ED"/>
            </a:solidFill>
            <a:prstDash val="solid"/>
          </a:ln>
        </p:spPr>
      </p:sp>
      <p:sp>
        <p:nvSpPr>
          <p:cNvPr id="22" name="Text 20"/>
          <p:cNvSpPr/>
          <p:nvPr/>
        </p:nvSpPr>
        <p:spPr>
          <a:xfrm>
            <a:off x="10299278" y="7232600"/>
            <a:ext cx="7310266" cy="309563"/>
          </a:xfrm>
          <a:prstGeom prst="rect">
            <a:avLst/>
          </a:prstGeom>
          <a:noFill/>
          <a:ln/>
        </p:spPr>
        <p:txBody>
          <a:bodyPr wrap="square" lIns="25400" tIns="25400" rIns="25400" bIns="25400" rtlCol="0" anchor="t">
            <a:normAutofit/>
          </a:bodyPr>
          <a:lstStyle/>
          <a:p>
            <a:pPr marL="0" indent="0" algn="l">
              <a:buNone/>
            </a:pPr>
            <a:r>
              <a:rPr lang="en-US" sz="1650" kern="0" spc="113" dirty="0">
                <a:solidFill>
                  <a:srgbClr val="0E7C71"/>
                </a:solidFill>
                <a:latin typeface="Courier New" pitchFamily="34" charset="0"/>
                <a:ea typeface="Courier New" pitchFamily="34" charset="-122"/>
                <a:cs typeface="Courier New" pitchFamily="34" charset="-120"/>
              </a:rPr>
              <a:t>PORT CLASS A / B</a:t>
            </a:r>
            <a:endParaRPr lang="en-US" sz="1650" dirty="0"/>
          </a:p>
        </p:txBody>
      </p:sp>
      <p:sp>
        <p:nvSpPr>
          <p:cNvPr id="23" name="Text 21"/>
          <p:cNvSpPr/>
          <p:nvPr/>
        </p:nvSpPr>
        <p:spPr>
          <a:xfrm>
            <a:off x="10299278" y="7618363"/>
            <a:ext cx="6845068" cy="784771"/>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3A4759"/>
                </a:solidFill>
                <a:latin typeface="Arial" pitchFamily="34" charset="0"/>
                <a:ea typeface="Arial" pitchFamily="34" charset="-122"/>
                <a:cs typeface="Arial" pitchFamily="34" charset="-120"/>
              </a:rPr>
              <a:t>Class A serves standard sensors; Class B adds separately fused actuator power.</a:t>
            </a:r>
            <a:endParaRPr lang="en-US" sz="2100" dirty="0"/>
          </a:p>
        </p:txBody>
      </p:sp>
      <p:sp>
        <p:nvSpPr>
          <p:cNvPr id="24" name="Shape 22"/>
          <p:cNvSpPr/>
          <p:nvPr/>
        </p:nvSpPr>
        <p:spPr>
          <a:xfrm>
            <a:off x="990600" y="9239250"/>
            <a:ext cx="16306800" cy="9525"/>
          </a:xfrm>
          <a:prstGeom prst="rect">
            <a:avLst/>
          </a:prstGeom>
          <a:solidFill>
            <a:srgbClr val="DCE4ED"/>
          </a:solidFill>
          <a:ln/>
        </p:spPr>
      </p:sp>
      <p:sp>
        <p:nvSpPr>
          <p:cNvPr id="25" name="Text 23"/>
          <p:cNvSpPr/>
          <p:nvPr/>
        </p:nvSpPr>
        <p:spPr>
          <a:xfrm>
            <a:off x="990600" y="9420225"/>
            <a:ext cx="6292803" cy="333375"/>
          </a:xfrm>
          <a:prstGeom prst="rect">
            <a:avLst/>
          </a:prstGeom>
          <a:noFill/>
          <a:ln/>
        </p:spPr>
        <p:txBody>
          <a:bodyPr wrap="square" lIns="25400" tIns="25400" rIns="25400" bIns="25400" rtlCol="0" anchor="t">
            <a:normAutofit/>
          </a:bodyPr>
          <a:lstStyle/>
          <a:p>
            <a:r>
              <a:rPr lang="en-US" sz="1800" kern="0" spc="75" dirty="0">
                <a:solidFill>
                  <a:srgbClr val="9AA8B6"/>
                </a:solidFill>
                <a:latin typeface="Courier New"/>
                <a:ea typeface="Courier New" pitchFamily="34" charset="-122"/>
                <a:cs typeface="Courier New"/>
              </a:rPr>
              <a:t> </a:t>
            </a:r>
            <a:r>
              <a:rPr lang="en-US" kern="0" spc="75">
                <a:solidFill>
                  <a:srgbClr val="7B8794"/>
                </a:solidFill>
                <a:latin typeface="Courier New"/>
                <a:ea typeface="Courier New" pitchFamily="34" charset="-122"/>
                <a:cs typeface="Courier New"/>
              </a:rPr>
              <a:t>Industrial Communication Standards</a:t>
            </a:r>
            <a:r>
              <a:rPr lang="en-US" sz="1800" kern="0" spc="75">
                <a:solidFill>
                  <a:srgbClr val="9AA8B6"/>
                </a:solidFill>
                <a:latin typeface="Courier New"/>
                <a:ea typeface="Courier New" pitchFamily="34" charset="-122"/>
                <a:cs typeface="Courier New"/>
              </a:rPr>
              <a:t>· HSHL</a:t>
            </a:r>
            <a:endParaRPr lang="en-US" sz="1800">
              <a:latin typeface="Courier New"/>
              <a:cs typeface="Courier New"/>
            </a:endParaRPr>
          </a:p>
        </p:txBody>
      </p:sp>
      <p:sp>
        <p:nvSpPr>
          <p:cNvPr id="26" name="Text 24"/>
          <p:cNvSpPr/>
          <p:nvPr/>
        </p:nvSpPr>
        <p:spPr>
          <a:xfrm>
            <a:off x="16270560" y="9420225"/>
            <a:ext cx="1103040"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05 / 12</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marL="0" indent="0" algn="l">
              <a:buNone/>
            </a:pPr>
            <a:r>
              <a:rPr lang="en-US" sz="1800" kern="0" spc="263" dirty="0">
                <a:solidFill>
                  <a:srgbClr val="0E7C71"/>
                </a:solidFill>
                <a:latin typeface="Courier New" pitchFamily="34" charset="0"/>
                <a:ea typeface="Courier New" pitchFamily="34" charset="-122"/>
                <a:cs typeface="Courier New" pitchFamily="34" charset="-120"/>
              </a:rPr>
              <a:t>LAYER 2 · DATA</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marL="0" indent="0" algn="l">
              <a:lnSpc>
                <a:spcPct val="107000"/>
              </a:lnSpc>
              <a:buNone/>
            </a:pPr>
            <a:r>
              <a:rPr lang="en-US" sz="3900" b="1" kern="0" spc="-37" dirty="0">
                <a:solidFill>
                  <a:srgbClr val="102033"/>
                </a:solidFill>
                <a:latin typeface="Arial" pitchFamily="34" charset="0"/>
                <a:ea typeface="Arial" pitchFamily="34" charset="-122"/>
                <a:cs typeface="Arial" pitchFamily="34" charset="-120"/>
              </a:rPr>
              <a:t>Fast process data, separate configuration</a:t>
            </a:r>
            <a:endParaRPr lang="en-US" sz="3900" dirty="0"/>
          </a:p>
        </p:txBody>
      </p:sp>
      <p:sp>
        <p:nvSpPr>
          <p:cNvPr id="5" name="Text 3"/>
          <p:cNvSpPr/>
          <p:nvPr/>
        </p:nvSpPr>
        <p:spPr>
          <a:xfrm>
            <a:off x="990600" y="2063428"/>
            <a:ext cx="248245" cy="404813"/>
          </a:xfrm>
          <a:prstGeom prst="rect">
            <a:avLst/>
          </a:prstGeom>
          <a:noFill/>
          <a:ln/>
        </p:spPr>
        <p:txBody>
          <a:bodyPr wrap="square" lIns="25400" tIns="25400" rIns="25400" bIns="25400" rtlCol="0" anchor="t">
            <a:normAutofit/>
          </a:bodyPr>
          <a:lstStyle/>
          <a:p>
            <a:pPr marL="0" indent="0" algn="l">
              <a:buNone/>
            </a:pPr>
            <a:r>
              <a:rPr lang="en-US" sz="2250" dirty="0">
                <a:solidFill>
                  <a:srgbClr val="0E7C71"/>
                </a:solidFill>
                <a:latin typeface="Courier New" pitchFamily="34" charset="0"/>
                <a:ea typeface="Courier New" pitchFamily="34" charset="-122"/>
                <a:cs typeface="Courier New" pitchFamily="34" charset="-120"/>
              </a:rPr>
              <a:t>◆</a:t>
            </a:r>
            <a:endParaRPr lang="en-US" sz="2250" dirty="0"/>
          </a:p>
        </p:txBody>
      </p:sp>
      <p:sp>
        <p:nvSpPr>
          <p:cNvPr id="6" name="Text 4"/>
          <p:cNvSpPr/>
          <p:nvPr/>
        </p:nvSpPr>
        <p:spPr>
          <a:xfrm>
            <a:off x="1334095" y="2063428"/>
            <a:ext cx="6541931" cy="404813"/>
          </a:xfrm>
          <a:prstGeom prst="rect">
            <a:avLst/>
          </a:prstGeom>
          <a:noFill/>
          <a:ln/>
        </p:spPr>
        <p:txBody>
          <a:bodyPr wrap="square" lIns="0" tIns="0" rIns="0" bIns="0" rtlCol="0" anchor="t">
            <a:normAutofit/>
          </a:bodyPr>
          <a:lstStyle/>
          <a:p>
            <a:pPr marL="0" indent="0" algn="l">
              <a:buNone/>
            </a:pPr>
            <a:r>
              <a:rPr lang="en-US" sz="2250" dirty="0">
                <a:solidFill>
                  <a:srgbClr val="5F7185"/>
                </a:solidFill>
                <a:latin typeface="Arial" pitchFamily="34" charset="0"/>
                <a:ea typeface="Arial" pitchFamily="34" charset="-122"/>
                <a:cs typeface="Arial" pitchFamily="34" charset="-120"/>
              </a:rPr>
              <a:t>Master initiates every exchange; devices respond.</a:t>
            </a:r>
            <a:endParaRPr lang="en-US" sz="2250" dirty="0"/>
          </a:p>
        </p:txBody>
      </p:sp>
      <p:sp>
        <p:nvSpPr>
          <p:cNvPr id="7" name="Shape 5"/>
          <p:cNvSpPr/>
          <p:nvPr/>
        </p:nvSpPr>
        <p:spPr>
          <a:xfrm>
            <a:off x="990600" y="2715890"/>
            <a:ext cx="7534275" cy="2985418"/>
          </a:xfrm>
          <a:prstGeom prst="roundRect">
            <a:avLst>
              <a:gd name="adj" fmla="val 6381"/>
            </a:avLst>
          </a:prstGeom>
          <a:solidFill>
            <a:srgbClr val="EAF7F4"/>
          </a:solidFill>
          <a:ln w="9525">
            <a:solidFill>
              <a:srgbClr val="BFE6DF"/>
            </a:solidFill>
            <a:prstDash val="solid"/>
          </a:ln>
        </p:spPr>
      </p:sp>
      <p:sp>
        <p:nvSpPr>
          <p:cNvPr id="8" name="Text 6"/>
          <p:cNvSpPr/>
          <p:nvPr/>
        </p:nvSpPr>
        <p:spPr>
          <a:xfrm>
            <a:off x="1381125" y="3579912"/>
            <a:ext cx="7428548" cy="333375"/>
          </a:xfrm>
          <a:prstGeom prst="rect">
            <a:avLst/>
          </a:prstGeom>
          <a:noFill/>
          <a:ln/>
        </p:spPr>
        <p:txBody>
          <a:bodyPr wrap="square" lIns="25400" tIns="25400" rIns="25400" bIns="25400" rtlCol="0" anchor="t">
            <a:normAutofit/>
          </a:bodyPr>
          <a:lstStyle/>
          <a:p>
            <a:pPr marL="0" indent="0" algn="l">
              <a:buNone/>
            </a:pPr>
            <a:r>
              <a:rPr lang="en-US" sz="1800" kern="0" spc="150" dirty="0">
                <a:solidFill>
                  <a:srgbClr val="0E7C71"/>
                </a:solidFill>
                <a:latin typeface="Courier New" pitchFamily="34" charset="0"/>
                <a:ea typeface="Courier New" pitchFamily="34" charset="-122"/>
                <a:cs typeface="Courier New" pitchFamily="34" charset="-120"/>
              </a:rPr>
              <a:t>CYCLIC</a:t>
            </a:r>
            <a:endParaRPr lang="en-US" sz="1800" dirty="0"/>
          </a:p>
        </p:txBody>
      </p:sp>
      <p:sp>
        <p:nvSpPr>
          <p:cNvPr id="9" name="Text 7"/>
          <p:cNvSpPr/>
          <p:nvPr/>
        </p:nvSpPr>
        <p:spPr>
          <a:xfrm>
            <a:off x="1381125" y="4027587"/>
            <a:ext cx="6955822" cy="847725"/>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1C3A36"/>
                </a:solidFill>
                <a:latin typeface="Arial" pitchFamily="34" charset="0"/>
                <a:ea typeface="Arial" pitchFamily="34" charset="-122"/>
                <a:cs typeface="Arial" pitchFamily="34" charset="-120"/>
              </a:rPr>
              <a:t>Process data up to </a:t>
            </a:r>
            <a:r>
              <a:rPr lang="en-US" sz="2250" b="1" dirty="0">
                <a:solidFill>
                  <a:srgbClr val="1C3A36"/>
                </a:solidFill>
                <a:latin typeface="Arial" pitchFamily="34" charset="0"/>
                <a:ea typeface="Arial" pitchFamily="34" charset="-122"/>
                <a:cs typeface="Arial" pitchFamily="34" charset="-120"/>
              </a:rPr>
              <a:t>32 octets </a:t>
            </a:r>
            <a:r>
              <a:rPr lang="en-US" sz="2250" dirty="0">
                <a:solidFill>
                  <a:srgbClr val="1C3A36"/>
                </a:solidFill>
                <a:latin typeface="Arial" pitchFamily="34" charset="0"/>
                <a:ea typeface="Arial" pitchFamily="34" charset="-122"/>
                <a:cs typeface="Arial" pitchFamily="34" charset="-120"/>
              </a:rPr>
              <a:t>per direction per cycle, plus value status.</a:t>
            </a:r>
            <a:endParaRPr lang="en-US" sz="2250" dirty="0"/>
          </a:p>
        </p:txBody>
      </p:sp>
      <p:sp>
        <p:nvSpPr>
          <p:cNvPr id="10" name="Shape 8"/>
          <p:cNvSpPr/>
          <p:nvPr/>
        </p:nvSpPr>
        <p:spPr>
          <a:xfrm>
            <a:off x="990600" y="5929908"/>
            <a:ext cx="7534275" cy="2985492"/>
          </a:xfrm>
          <a:prstGeom prst="roundRect">
            <a:avLst>
              <a:gd name="adj" fmla="val 6381"/>
            </a:avLst>
          </a:prstGeom>
          <a:solidFill>
            <a:srgbClr val="FFFFFF"/>
          </a:solidFill>
          <a:ln w="9525">
            <a:solidFill>
              <a:srgbClr val="DCE4ED"/>
            </a:solidFill>
            <a:prstDash val="solid"/>
          </a:ln>
        </p:spPr>
      </p:sp>
      <p:sp>
        <p:nvSpPr>
          <p:cNvPr id="11" name="Text 9"/>
          <p:cNvSpPr/>
          <p:nvPr/>
        </p:nvSpPr>
        <p:spPr>
          <a:xfrm>
            <a:off x="1381125" y="6798766"/>
            <a:ext cx="7428548" cy="333375"/>
          </a:xfrm>
          <a:prstGeom prst="rect">
            <a:avLst/>
          </a:prstGeom>
          <a:noFill/>
          <a:ln/>
        </p:spPr>
        <p:txBody>
          <a:bodyPr wrap="square" lIns="25400" tIns="25400" rIns="25400" bIns="25400" rtlCol="0" anchor="t">
            <a:normAutofit/>
          </a:bodyPr>
          <a:lstStyle/>
          <a:p>
            <a:pPr marL="0" indent="0" algn="l">
              <a:buNone/>
            </a:pPr>
            <a:r>
              <a:rPr lang="en-US" sz="1800" kern="0" spc="150" dirty="0">
                <a:solidFill>
                  <a:srgbClr val="5F7185"/>
                </a:solidFill>
                <a:latin typeface="Courier New" pitchFamily="34" charset="0"/>
                <a:ea typeface="Courier New" pitchFamily="34" charset="-122"/>
                <a:cs typeface="Courier New" pitchFamily="34" charset="-120"/>
              </a:rPr>
              <a:t>ACYCLIC</a:t>
            </a:r>
            <a:endParaRPr lang="en-US" sz="1800" dirty="0"/>
          </a:p>
        </p:txBody>
      </p:sp>
      <p:sp>
        <p:nvSpPr>
          <p:cNvPr id="12" name="Text 10"/>
          <p:cNvSpPr/>
          <p:nvPr/>
        </p:nvSpPr>
        <p:spPr>
          <a:xfrm>
            <a:off x="1381125" y="7246441"/>
            <a:ext cx="6955822" cy="83820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3A4759"/>
                </a:solidFill>
                <a:latin typeface="Arial" pitchFamily="34" charset="0"/>
                <a:ea typeface="Arial" pitchFamily="34" charset="-122"/>
                <a:cs typeface="Arial" pitchFamily="34" charset="-120"/>
              </a:rPr>
              <a:t>Parameters, identity, commands, warnings, and fault events run in parallel.</a:t>
            </a:r>
            <a:endParaRPr lang="en-US" sz="2250" dirty="0"/>
          </a:p>
        </p:txBody>
      </p:sp>
      <p:sp>
        <p:nvSpPr>
          <p:cNvPr id="13" name="Shape 11"/>
          <p:cNvSpPr/>
          <p:nvPr/>
        </p:nvSpPr>
        <p:spPr>
          <a:xfrm>
            <a:off x="8905875" y="2715890"/>
            <a:ext cx="8391525" cy="6199510"/>
          </a:xfrm>
          <a:prstGeom prst="roundRect">
            <a:avLst>
              <a:gd name="adj" fmla="val 3380"/>
            </a:avLst>
          </a:prstGeom>
          <a:solidFill>
            <a:srgbClr val="FFFFFF"/>
          </a:solidFill>
          <a:ln w="9525">
            <a:solidFill>
              <a:srgbClr val="DCE4ED"/>
            </a:solidFill>
            <a:prstDash val="solid"/>
          </a:ln>
        </p:spPr>
      </p:sp>
      <p:sp>
        <p:nvSpPr>
          <p:cNvPr id="14" name="Text 12"/>
          <p:cNvSpPr/>
          <p:nvPr/>
        </p:nvSpPr>
        <p:spPr>
          <a:xfrm>
            <a:off x="9334500" y="3106415"/>
            <a:ext cx="8287703" cy="333375"/>
          </a:xfrm>
          <a:prstGeom prst="rect">
            <a:avLst/>
          </a:prstGeom>
          <a:noFill/>
          <a:ln/>
        </p:spPr>
        <p:txBody>
          <a:bodyPr wrap="square" lIns="25400" tIns="25400" rIns="25400" bIns="25400" rtlCol="0" anchor="t">
            <a:normAutofit/>
          </a:bodyPr>
          <a:lstStyle/>
          <a:p>
            <a:pPr marL="0" indent="0" algn="l">
              <a:buNone/>
            </a:pPr>
            <a:r>
              <a:rPr lang="en-US" sz="1800" kern="0" spc="150" dirty="0">
                <a:solidFill>
                  <a:srgbClr val="0E7C71"/>
                </a:solidFill>
                <a:latin typeface="Courier New" pitchFamily="34" charset="0"/>
                <a:ea typeface="Courier New" pitchFamily="34" charset="-122"/>
                <a:cs typeface="Courier New" pitchFamily="34" charset="-120"/>
              </a:rPr>
              <a:t>TRANSFER RATES</a:t>
            </a:r>
            <a:endParaRPr lang="en-US" sz="1800" dirty="0"/>
          </a:p>
        </p:txBody>
      </p:sp>
      <p:sp>
        <p:nvSpPr>
          <p:cNvPr id="15" name="Text 13"/>
          <p:cNvSpPr/>
          <p:nvPr/>
        </p:nvSpPr>
        <p:spPr>
          <a:xfrm>
            <a:off x="9334500" y="3458840"/>
            <a:ext cx="8287703" cy="333375"/>
          </a:xfrm>
          <a:prstGeom prst="rect">
            <a:avLst/>
          </a:prstGeom>
          <a:noFill/>
          <a:ln/>
        </p:spPr>
        <p:txBody>
          <a:bodyPr wrap="square" lIns="25400" tIns="25400" rIns="25400" bIns="25400" rtlCol="0" anchor="t">
            <a:normAutofit/>
          </a:bodyPr>
          <a:lstStyle/>
          <a:p>
            <a:pPr marL="0" indent="0" algn="l">
              <a:buNone/>
            </a:pPr>
            <a:r>
              <a:rPr lang="en-US" sz="1800" dirty="0">
                <a:solidFill>
                  <a:srgbClr val="9AA8B6"/>
                </a:solidFill>
                <a:latin typeface="Arial" pitchFamily="34" charset="0"/>
                <a:ea typeface="Arial" pitchFamily="34" charset="-122"/>
                <a:cs typeface="Arial" pitchFamily="34" charset="-120"/>
              </a:rPr>
              <a:t>kbit/s</a:t>
            </a:r>
            <a:endParaRPr lang="en-US" sz="1800" dirty="0"/>
          </a:p>
        </p:txBody>
      </p:sp>
      <p:sp>
        <p:nvSpPr>
          <p:cNvPr id="16" name="Text 14"/>
          <p:cNvSpPr/>
          <p:nvPr/>
        </p:nvSpPr>
        <p:spPr>
          <a:xfrm>
            <a:off x="9334500" y="5203627"/>
            <a:ext cx="670620" cy="357188"/>
          </a:xfrm>
          <a:prstGeom prst="rect">
            <a:avLst/>
          </a:prstGeom>
          <a:noFill/>
          <a:ln/>
        </p:spPr>
        <p:txBody>
          <a:bodyPr wrap="square" lIns="25400" tIns="25400" rIns="25400" bIns="25400" rtlCol="0" anchor="t">
            <a:normAutofit/>
          </a:bodyPr>
          <a:lstStyle/>
          <a:p>
            <a:pPr marL="0" indent="0" algn="l">
              <a:buNone/>
            </a:pPr>
            <a:r>
              <a:rPr lang="en-US" sz="1950" dirty="0">
                <a:solidFill>
                  <a:srgbClr val="5F7185"/>
                </a:solidFill>
                <a:latin typeface="Courier New" pitchFamily="34" charset="0"/>
                <a:ea typeface="Courier New" pitchFamily="34" charset="-122"/>
                <a:cs typeface="Courier New" pitchFamily="34" charset="-120"/>
              </a:rPr>
              <a:t>COM1</a:t>
            </a:r>
            <a:endParaRPr lang="en-US" sz="1950" dirty="0"/>
          </a:p>
        </p:txBody>
      </p:sp>
      <p:sp>
        <p:nvSpPr>
          <p:cNvPr id="17" name="Text 15"/>
          <p:cNvSpPr/>
          <p:nvPr/>
        </p:nvSpPr>
        <p:spPr>
          <a:xfrm>
            <a:off x="16422960" y="5203627"/>
            <a:ext cx="522015" cy="357188"/>
          </a:xfrm>
          <a:prstGeom prst="rect">
            <a:avLst/>
          </a:prstGeom>
          <a:noFill/>
          <a:ln/>
        </p:spPr>
        <p:txBody>
          <a:bodyPr wrap="square" lIns="25400" tIns="25400" rIns="25400" bIns="25400" rtlCol="0" anchor="t">
            <a:normAutofit/>
          </a:bodyPr>
          <a:lstStyle/>
          <a:p>
            <a:pPr marL="0" indent="0" algn="l">
              <a:buNone/>
            </a:pPr>
            <a:r>
              <a:rPr lang="en-US" sz="1950" dirty="0">
                <a:solidFill>
                  <a:srgbClr val="102033"/>
                </a:solidFill>
                <a:latin typeface="Courier New" pitchFamily="34" charset="0"/>
                <a:ea typeface="Courier New" pitchFamily="34" charset="-122"/>
                <a:cs typeface="Courier New" pitchFamily="34" charset="-120"/>
              </a:rPr>
              <a:t>4.8</a:t>
            </a:r>
            <a:endParaRPr lang="en-US" sz="1950" dirty="0"/>
          </a:p>
        </p:txBody>
      </p:sp>
      <p:sp>
        <p:nvSpPr>
          <p:cNvPr id="18" name="Shape 16"/>
          <p:cNvSpPr/>
          <p:nvPr/>
        </p:nvSpPr>
        <p:spPr>
          <a:xfrm>
            <a:off x="9334500" y="5598914"/>
            <a:ext cx="7534275" cy="171450"/>
          </a:xfrm>
          <a:prstGeom prst="roundRect">
            <a:avLst>
              <a:gd name="adj" fmla="val 50000"/>
            </a:avLst>
          </a:prstGeom>
          <a:solidFill>
            <a:srgbClr val="EEF2F6"/>
          </a:solidFill>
          <a:ln/>
        </p:spPr>
      </p:sp>
      <p:sp>
        <p:nvSpPr>
          <p:cNvPr id="19" name="Shape 17"/>
          <p:cNvSpPr/>
          <p:nvPr/>
        </p:nvSpPr>
        <p:spPr>
          <a:xfrm>
            <a:off x="9334500" y="5598914"/>
            <a:ext cx="150614" cy="171450"/>
          </a:xfrm>
          <a:prstGeom prst="ellipse">
            <a:avLst/>
          </a:prstGeom>
          <a:solidFill>
            <a:srgbClr val="9FD8CE"/>
          </a:solidFill>
          <a:ln/>
        </p:spPr>
      </p:sp>
      <p:sp>
        <p:nvSpPr>
          <p:cNvPr id="20" name="Text 18"/>
          <p:cNvSpPr/>
          <p:nvPr/>
        </p:nvSpPr>
        <p:spPr>
          <a:xfrm>
            <a:off x="9334500" y="5998964"/>
            <a:ext cx="670620" cy="357188"/>
          </a:xfrm>
          <a:prstGeom prst="rect">
            <a:avLst/>
          </a:prstGeom>
          <a:noFill/>
          <a:ln/>
        </p:spPr>
        <p:txBody>
          <a:bodyPr wrap="square" lIns="25400" tIns="25400" rIns="25400" bIns="25400" rtlCol="0" anchor="t">
            <a:normAutofit/>
          </a:bodyPr>
          <a:lstStyle/>
          <a:p>
            <a:pPr marL="0" indent="0" algn="l">
              <a:buNone/>
            </a:pPr>
            <a:r>
              <a:rPr lang="en-US" sz="1950" dirty="0">
                <a:solidFill>
                  <a:srgbClr val="5F7185"/>
                </a:solidFill>
                <a:latin typeface="Courier New" pitchFamily="34" charset="0"/>
                <a:ea typeface="Courier New" pitchFamily="34" charset="-122"/>
                <a:cs typeface="Courier New" pitchFamily="34" charset="-120"/>
              </a:rPr>
              <a:t>COM2</a:t>
            </a:r>
            <a:endParaRPr lang="en-US" sz="1950" dirty="0"/>
          </a:p>
        </p:txBody>
      </p:sp>
      <p:sp>
        <p:nvSpPr>
          <p:cNvPr id="21" name="Text 19"/>
          <p:cNvSpPr/>
          <p:nvPr/>
        </p:nvSpPr>
        <p:spPr>
          <a:xfrm>
            <a:off x="16274355" y="5998964"/>
            <a:ext cx="670620" cy="357188"/>
          </a:xfrm>
          <a:prstGeom prst="rect">
            <a:avLst/>
          </a:prstGeom>
          <a:noFill/>
          <a:ln/>
        </p:spPr>
        <p:txBody>
          <a:bodyPr wrap="square" lIns="25400" tIns="25400" rIns="25400" bIns="25400" rtlCol="0" anchor="t">
            <a:normAutofit/>
          </a:bodyPr>
          <a:lstStyle/>
          <a:p>
            <a:pPr marL="0" indent="0" algn="l">
              <a:buNone/>
            </a:pPr>
            <a:r>
              <a:rPr lang="en-US" sz="1950" dirty="0">
                <a:solidFill>
                  <a:srgbClr val="102033"/>
                </a:solidFill>
                <a:latin typeface="Courier New" pitchFamily="34" charset="0"/>
                <a:ea typeface="Courier New" pitchFamily="34" charset="-122"/>
                <a:cs typeface="Courier New" pitchFamily="34" charset="-120"/>
              </a:rPr>
              <a:t>38.4</a:t>
            </a:r>
            <a:endParaRPr lang="en-US" sz="1950" dirty="0"/>
          </a:p>
        </p:txBody>
      </p:sp>
      <p:sp>
        <p:nvSpPr>
          <p:cNvPr id="22" name="Shape 20"/>
          <p:cNvSpPr/>
          <p:nvPr/>
        </p:nvSpPr>
        <p:spPr>
          <a:xfrm>
            <a:off x="9334500" y="6394252"/>
            <a:ext cx="7534275" cy="171450"/>
          </a:xfrm>
          <a:prstGeom prst="roundRect">
            <a:avLst>
              <a:gd name="adj" fmla="val 50000"/>
            </a:avLst>
          </a:prstGeom>
          <a:solidFill>
            <a:srgbClr val="EEF2F6"/>
          </a:solidFill>
          <a:ln/>
        </p:spPr>
      </p:sp>
      <p:sp>
        <p:nvSpPr>
          <p:cNvPr id="23" name="Shape 21"/>
          <p:cNvSpPr/>
          <p:nvPr/>
        </p:nvSpPr>
        <p:spPr>
          <a:xfrm>
            <a:off x="9334500" y="6394252"/>
            <a:ext cx="1280815" cy="171450"/>
          </a:xfrm>
          <a:prstGeom prst="roundRect">
            <a:avLst>
              <a:gd name="adj" fmla="val 50000"/>
            </a:avLst>
          </a:prstGeom>
          <a:solidFill>
            <a:srgbClr val="12A594"/>
          </a:solidFill>
          <a:ln/>
        </p:spPr>
      </p:sp>
      <p:sp>
        <p:nvSpPr>
          <p:cNvPr id="24" name="Text 22"/>
          <p:cNvSpPr/>
          <p:nvPr/>
        </p:nvSpPr>
        <p:spPr>
          <a:xfrm>
            <a:off x="9334500" y="6794302"/>
            <a:ext cx="670620" cy="357188"/>
          </a:xfrm>
          <a:prstGeom prst="rect">
            <a:avLst/>
          </a:prstGeom>
          <a:noFill/>
          <a:ln/>
        </p:spPr>
        <p:txBody>
          <a:bodyPr wrap="square" lIns="25400" tIns="25400" rIns="25400" bIns="25400" rtlCol="0" anchor="t">
            <a:normAutofit/>
          </a:bodyPr>
          <a:lstStyle/>
          <a:p>
            <a:pPr marL="0" indent="0" algn="l">
              <a:buNone/>
            </a:pPr>
            <a:r>
              <a:rPr lang="en-US" sz="1950" dirty="0">
                <a:solidFill>
                  <a:srgbClr val="5F7185"/>
                </a:solidFill>
                <a:latin typeface="Courier New" pitchFamily="34" charset="0"/>
                <a:ea typeface="Courier New" pitchFamily="34" charset="-122"/>
                <a:cs typeface="Courier New" pitchFamily="34" charset="-120"/>
              </a:rPr>
              <a:t>COM3</a:t>
            </a:r>
            <a:endParaRPr lang="en-US" sz="1950" dirty="0"/>
          </a:p>
        </p:txBody>
      </p:sp>
      <p:sp>
        <p:nvSpPr>
          <p:cNvPr id="25" name="Text 23"/>
          <p:cNvSpPr/>
          <p:nvPr/>
        </p:nvSpPr>
        <p:spPr>
          <a:xfrm>
            <a:off x="16125825" y="6794302"/>
            <a:ext cx="819150" cy="357188"/>
          </a:xfrm>
          <a:prstGeom prst="rect">
            <a:avLst/>
          </a:prstGeom>
          <a:noFill/>
          <a:ln/>
        </p:spPr>
        <p:txBody>
          <a:bodyPr wrap="square" lIns="25400" tIns="25400" rIns="25400" bIns="25400" rtlCol="0" anchor="t">
            <a:normAutofit/>
          </a:bodyPr>
          <a:lstStyle/>
          <a:p>
            <a:pPr marL="0" indent="0" algn="l">
              <a:buNone/>
            </a:pPr>
            <a:r>
              <a:rPr lang="en-US" sz="1950" dirty="0">
                <a:solidFill>
                  <a:srgbClr val="102033"/>
                </a:solidFill>
                <a:latin typeface="Courier New" pitchFamily="34" charset="0"/>
                <a:ea typeface="Courier New" pitchFamily="34" charset="-122"/>
                <a:cs typeface="Courier New" pitchFamily="34" charset="-120"/>
              </a:rPr>
              <a:t>230.4</a:t>
            </a:r>
            <a:endParaRPr lang="en-US" sz="1950" dirty="0"/>
          </a:p>
        </p:txBody>
      </p:sp>
      <p:sp>
        <p:nvSpPr>
          <p:cNvPr id="26" name="Shape 24"/>
          <p:cNvSpPr/>
          <p:nvPr/>
        </p:nvSpPr>
        <p:spPr>
          <a:xfrm>
            <a:off x="9334500" y="7189589"/>
            <a:ext cx="7534275" cy="171450"/>
          </a:xfrm>
          <a:prstGeom prst="roundRect">
            <a:avLst>
              <a:gd name="adj" fmla="val 50000"/>
            </a:avLst>
          </a:prstGeom>
          <a:solidFill>
            <a:srgbClr val="EEF2F6"/>
          </a:solidFill>
          <a:ln/>
        </p:spPr>
      </p:sp>
      <p:sp>
        <p:nvSpPr>
          <p:cNvPr id="27" name="Shape 25"/>
          <p:cNvSpPr/>
          <p:nvPr/>
        </p:nvSpPr>
        <p:spPr>
          <a:xfrm>
            <a:off x="9334500" y="7189589"/>
            <a:ext cx="7534275" cy="171450"/>
          </a:xfrm>
          <a:prstGeom prst="roundRect">
            <a:avLst>
              <a:gd name="adj" fmla="val 50000"/>
            </a:avLst>
          </a:prstGeom>
          <a:solidFill>
            <a:srgbClr val="0E7C71"/>
          </a:solidFill>
          <a:ln/>
        </p:spPr>
      </p:sp>
      <p:sp>
        <p:nvSpPr>
          <p:cNvPr id="28" name="Shape 26"/>
          <p:cNvSpPr/>
          <p:nvPr/>
        </p:nvSpPr>
        <p:spPr>
          <a:xfrm>
            <a:off x="990600" y="9239250"/>
            <a:ext cx="16306800" cy="9525"/>
          </a:xfrm>
          <a:prstGeom prst="rect">
            <a:avLst/>
          </a:prstGeom>
          <a:solidFill>
            <a:srgbClr val="DCE4ED"/>
          </a:solidFill>
          <a:ln/>
        </p:spPr>
      </p:sp>
      <p:sp>
        <p:nvSpPr>
          <p:cNvPr id="29" name="Text 27"/>
          <p:cNvSpPr/>
          <p:nvPr/>
        </p:nvSpPr>
        <p:spPr>
          <a:xfrm>
            <a:off x="990600" y="9420225"/>
            <a:ext cx="6292803" cy="333375"/>
          </a:xfrm>
          <a:prstGeom prst="rect">
            <a:avLst/>
          </a:prstGeom>
          <a:noFill/>
          <a:ln/>
        </p:spPr>
        <p:txBody>
          <a:bodyPr wrap="square" lIns="25400" tIns="25400" rIns="25400" bIns="25400" rtlCol="0" anchor="t">
            <a:normAutofit/>
          </a:bodyPr>
          <a:lstStyle/>
          <a:p>
            <a:r>
              <a:rPr lang="en-US" sz="1800" kern="0" spc="75">
                <a:solidFill>
                  <a:srgbClr val="9AA8B6"/>
                </a:solidFill>
                <a:latin typeface="Courier New"/>
                <a:ea typeface="Courier New" pitchFamily="34" charset="-122"/>
                <a:cs typeface="Courier New"/>
              </a:rPr>
              <a:t> ·</a:t>
            </a:r>
            <a:r>
              <a:rPr lang="en-US" kern="0" spc="75">
                <a:solidFill>
                  <a:srgbClr val="7B8794"/>
                </a:solidFill>
                <a:latin typeface="Courier New"/>
                <a:ea typeface="Courier New" pitchFamily="34" charset="-122"/>
                <a:cs typeface="Courier New"/>
              </a:rPr>
              <a:t>Industrial Communication Standards</a:t>
            </a:r>
            <a:r>
              <a:rPr lang="en-US" kern="0" spc="75">
                <a:solidFill>
                  <a:srgbClr val="9AA8B6"/>
                </a:solidFill>
                <a:latin typeface="Courier New"/>
                <a:ea typeface="Courier New" pitchFamily="34" charset="-122"/>
                <a:cs typeface="Courier New"/>
              </a:rPr>
              <a:t> </a:t>
            </a:r>
            <a:r>
              <a:rPr lang="en-US" sz="1800" kern="0" spc="75">
                <a:solidFill>
                  <a:srgbClr val="9AA8B6"/>
                </a:solidFill>
                <a:latin typeface="Courier New"/>
                <a:ea typeface="Courier New" pitchFamily="34" charset="-122"/>
                <a:cs typeface="Courier New"/>
              </a:rPr>
              <a:t>HSHL</a:t>
            </a:r>
            <a:endParaRPr lang="en-US" sz="1800">
              <a:latin typeface="Courier New"/>
              <a:cs typeface="Courier New"/>
            </a:endParaRPr>
          </a:p>
        </p:txBody>
      </p:sp>
      <p:sp>
        <p:nvSpPr>
          <p:cNvPr id="30" name="Text 28"/>
          <p:cNvSpPr/>
          <p:nvPr/>
        </p:nvSpPr>
        <p:spPr>
          <a:xfrm>
            <a:off x="16270560" y="9420225"/>
            <a:ext cx="1103040"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06 / 12</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marL="0" indent="0" algn="l">
              <a:buNone/>
            </a:pPr>
            <a:r>
              <a:rPr lang="en-US" sz="1800" kern="0" spc="263" dirty="0">
                <a:solidFill>
                  <a:srgbClr val="0E7C71"/>
                </a:solidFill>
                <a:latin typeface="Courier New" pitchFamily="34" charset="0"/>
                <a:ea typeface="Courier New" pitchFamily="34" charset="-122"/>
                <a:cs typeface="Courier New" pitchFamily="34" charset="-120"/>
              </a:rPr>
              <a:t>LAYER 3 · IODD</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marL="0" indent="0" algn="l">
              <a:lnSpc>
                <a:spcPct val="107000"/>
              </a:lnSpc>
              <a:buNone/>
            </a:pPr>
            <a:r>
              <a:rPr lang="en-US" sz="3900" b="1" kern="0" spc="-37" dirty="0">
                <a:solidFill>
                  <a:srgbClr val="102033"/>
                </a:solidFill>
                <a:latin typeface="Arial" pitchFamily="34" charset="0"/>
                <a:ea typeface="Arial" pitchFamily="34" charset="-122"/>
                <a:cs typeface="Arial" pitchFamily="34" charset="-120"/>
              </a:rPr>
              <a:t>IODD makes device data usable</a:t>
            </a:r>
            <a:endParaRPr lang="en-US" sz="3900" dirty="0"/>
          </a:p>
        </p:txBody>
      </p:sp>
      <p:sp>
        <p:nvSpPr>
          <p:cNvPr id="5" name="Shape 3"/>
          <p:cNvSpPr/>
          <p:nvPr/>
        </p:nvSpPr>
        <p:spPr>
          <a:xfrm>
            <a:off x="990600" y="2139628"/>
            <a:ext cx="4000500" cy="6699572"/>
          </a:xfrm>
          <a:prstGeom prst="roundRect">
            <a:avLst>
              <a:gd name="adj" fmla="val 5238"/>
            </a:avLst>
          </a:prstGeom>
          <a:solidFill>
            <a:srgbClr val="102033"/>
          </a:solidFill>
          <a:ln/>
        </p:spPr>
      </p:sp>
      <p:sp>
        <p:nvSpPr>
          <p:cNvPr id="6" name="Text 4"/>
          <p:cNvSpPr/>
          <p:nvPr/>
        </p:nvSpPr>
        <p:spPr>
          <a:xfrm>
            <a:off x="1409700" y="4025205"/>
            <a:ext cx="3478530" cy="828675"/>
          </a:xfrm>
          <a:prstGeom prst="rect">
            <a:avLst/>
          </a:prstGeom>
          <a:noFill/>
          <a:ln/>
        </p:spPr>
        <p:txBody>
          <a:bodyPr wrap="square" lIns="25400" tIns="25400" rIns="25400" bIns="25400" rtlCol="0" anchor="t">
            <a:normAutofit/>
          </a:bodyPr>
          <a:lstStyle/>
          <a:p>
            <a:pPr marL="0" indent="0" algn="l">
              <a:buNone/>
            </a:pPr>
            <a:r>
              <a:rPr lang="en-US" sz="5400" b="1" kern="0" spc="-75" dirty="0">
                <a:solidFill>
                  <a:srgbClr val="FFFFFF"/>
                </a:solidFill>
                <a:latin typeface="Arial" pitchFamily="34" charset="0"/>
                <a:ea typeface="Arial" pitchFamily="34" charset="-122"/>
                <a:cs typeface="Arial" pitchFamily="34" charset="-120"/>
              </a:rPr>
              <a:t>IODD</a:t>
            </a:r>
            <a:endParaRPr lang="en-US" sz="5400" dirty="0"/>
          </a:p>
        </p:txBody>
      </p:sp>
      <p:sp>
        <p:nvSpPr>
          <p:cNvPr id="7" name="Text 5"/>
          <p:cNvSpPr/>
          <p:nvPr/>
        </p:nvSpPr>
        <p:spPr>
          <a:xfrm>
            <a:off x="1409700" y="4949130"/>
            <a:ext cx="3257169" cy="657225"/>
          </a:xfrm>
          <a:prstGeom prst="rect">
            <a:avLst/>
          </a:prstGeom>
          <a:noFill/>
          <a:ln/>
        </p:spPr>
        <p:txBody>
          <a:bodyPr wrap="square" lIns="25400" tIns="25400" rIns="25400" bIns="25400" rtlCol="0" anchor="t">
            <a:normAutofit/>
          </a:bodyPr>
          <a:lstStyle/>
          <a:p>
            <a:pPr marL="0" indent="0" algn="l">
              <a:buNone/>
            </a:pPr>
            <a:r>
              <a:rPr lang="en-US" sz="1875" kern="0" spc="75" dirty="0">
                <a:solidFill>
                  <a:srgbClr val="5FD7C6"/>
                </a:solidFill>
                <a:latin typeface="Courier New" pitchFamily="34" charset="0"/>
                <a:ea typeface="Courier New" pitchFamily="34" charset="-122"/>
                <a:cs typeface="Courier New" pitchFamily="34" charset="-120"/>
              </a:rPr>
              <a:t>XML device description</a:t>
            </a:r>
            <a:endParaRPr lang="en-US" sz="1875" dirty="0"/>
          </a:p>
        </p:txBody>
      </p:sp>
      <p:sp>
        <p:nvSpPr>
          <p:cNvPr id="8" name="Text 6"/>
          <p:cNvSpPr/>
          <p:nvPr/>
        </p:nvSpPr>
        <p:spPr>
          <a:xfrm>
            <a:off x="1409700" y="5834955"/>
            <a:ext cx="3257169" cy="1156767"/>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AEBCCB"/>
                </a:solidFill>
                <a:latin typeface="Arial" pitchFamily="34" charset="0"/>
                <a:ea typeface="Arial" pitchFamily="34" charset="-122"/>
                <a:cs typeface="Arial" pitchFamily="34" charset="-120"/>
              </a:rPr>
              <a:t>A standard file that tells the master and tools how to read a device.</a:t>
            </a:r>
            <a:endParaRPr lang="en-US" sz="2025" dirty="0"/>
          </a:p>
        </p:txBody>
      </p:sp>
      <p:sp>
        <p:nvSpPr>
          <p:cNvPr id="9" name="Shape 7"/>
          <p:cNvSpPr/>
          <p:nvPr/>
        </p:nvSpPr>
        <p:spPr>
          <a:xfrm>
            <a:off x="5372100" y="2139628"/>
            <a:ext cx="5848350" cy="3235449"/>
          </a:xfrm>
          <a:prstGeom prst="roundRect">
            <a:avLst>
              <a:gd name="adj" fmla="val 5299"/>
            </a:avLst>
          </a:prstGeom>
          <a:solidFill>
            <a:srgbClr val="FFFFFF"/>
          </a:solidFill>
          <a:ln w="9525">
            <a:solidFill>
              <a:srgbClr val="DCE4ED"/>
            </a:solidFill>
            <a:prstDash val="solid"/>
          </a:ln>
        </p:spPr>
      </p:sp>
      <p:sp>
        <p:nvSpPr>
          <p:cNvPr id="10" name="Text 8"/>
          <p:cNvSpPr/>
          <p:nvPr/>
        </p:nvSpPr>
        <p:spPr>
          <a:xfrm>
            <a:off x="5705475" y="3193926"/>
            <a:ext cx="5699760" cy="357188"/>
          </a:xfrm>
          <a:prstGeom prst="rect">
            <a:avLst/>
          </a:prstGeom>
          <a:noFill/>
          <a:ln/>
        </p:spPr>
        <p:txBody>
          <a:bodyPr wrap="square" lIns="25400" tIns="25400" rIns="25400" bIns="25400" rtlCol="0" anchor="t">
            <a:normAutofit/>
          </a:bodyPr>
          <a:lstStyle/>
          <a:p>
            <a:pPr marL="0" indent="0" algn="l">
              <a:buNone/>
            </a:pPr>
            <a:r>
              <a:rPr lang="en-US" sz="2175" b="1" dirty="0">
                <a:solidFill>
                  <a:srgbClr val="0E7C71"/>
                </a:solidFill>
                <a:latin typeface="Arial" pitchFamily="34" charset="0"/>
                <a:ea typeface="Arial" pitchFamily="34" charset="-122"/>
                <a:cs typeface="Arial" pitchFamily="34" charset="-120"/>
              </a:rPr>
              <a:t>Readable engineering</a:t>
            </a:r>
            <a:endParaRPr lang="en-US" sz="2175" dirty="0"/>
          </a:p>
        </p:txBody>
      </p:sp>
      <p:sp>
        <p:nvSpPr>
          <p:cNvPr id="11" name="Text 9"/>
          <p:cNvSpPr/>
          <p:nvPr/>
        </p:nvSpPr>
        <p:spPr>
          <a:xfrm>
            <a:off x="5705475" y="3627313"/>
            <a:ext cx="5337048" cy="73149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3A4759"/>
                </a:solidFill>
                <a:latin typeface="Arial" pitchFamily="34" charset="0"/>
                <a:ea typeface="Arial" pitchFamily="34" charset="-122"/>
                <a:cs typeface="Arial" pitchFamily="34" charset="-120"/>
              </a:rPr>
              <a:t>Names, limits, and formats replace register guessing.</a:t>
            </a:r>
            <a:endParaRPr lang="en-US" sz="1950" dirty="0"/>
          </a:p>
        </p:txBody>
      </p:sp>
      <p:sp>
        <p:nvSpPr>
          <p:cNvPr id="12" name="Shape 10"/>
          <p:cNvSpPr/>
          <p:nvPr/>
        </p:nvSpPr>
        <p:spPr>
          <a:xfrm>
            <a:off x="11449050" y="2139628"/>
            <a:ext cx="5848350" cy="3235449"/>
          </a:xfrm>
          <a:prstGeom prst="roundRect">
            <a:avLst>
              <a:gd name="adj" fmla="val 5299"/>
            </a:avLst>
          </a:prstGeom>
          <a:solidFill>
            <a:srgbClr val="FFFFFF"/>
          </a:solidFill>
          <a:ln w="9525">
            <a:solidFill>
              <a:srgbClr val="DCE4ED"/>
            </a:solidFill>
            <a:prstDash val="solid"/>
          </a:ln>
        </p:spPr>
      </p:sp>
      <p:sp>
        <p:nvSpPr>
          <p:cNvPr id="13" name="Text 11"/>
          <p:cNvSpPr/>
          <p:nvPr/>
        </p:nvSpPr>
        <p:spPr>
          <a:xfrm>
            <a:off x="11782425" y="3193926"/>
            <a:ext cx="5699760" cy="357188"/>
          </a:xfrm>
          <a:prstGeom prst="rect">
            <a:avLst/>
          </a:prstGeom>
          <a:noFill/>
          <a:ln/>
        </p:spPr>
        <p:txBody>
          <a:bodyPr wrap="square" lIns="25400" tIns="25400" rIns="25400" bIns="25400" rtlCol="0" anchor="t">
            <a:normAutofit/>
          </a:bodyPr>
          <a:lstStyle/>
          <a:p>
            <a:pPr marL="0" indent="0" algn="l">
              <a:buNone/>
            </a:pPr>
            <a:r>
              <a:rPr lang="en-US" sz="2175" b="1" dirty="0">
                <a:solidFill>
                  <a:srgbClr val="0E7C71"/>
                </a:solidFill>
                <a:latin typeface="Arial" pitchFamily="34" charset="0"/>
                <a:ea typeface="Arial" pitchFamily="34" charset="-122"/>
                <a:cs typeface="Arial" pitchFamily="34" charset="-120"/>
              </a:rPr>
              <a:t>Remote parameter changes</a:t>
            </a:r>
            <a:endParaRPr lang="en-US" sz="2175" dirty="0"/>
          </a:p>
        </p:txBody>
      </p:sp>
      <p:sp>
        <p:nvSpPr>
          <p:cNvPr id="14" name="Text 12"/>
          <p:cNvSpPr/>
          <p:nvPr/>
        </p:nvSpPr>
        <p:spPr>
          <a:xfrm>
            <a:off x="11782425" y="3627313"/>
            <a:ext cx="5337048" cy="73149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3A4759"/>
                </a:solidFill>
                <a:latin typeface="Arial" pitchFamily="34" charset="0"/>
                <a:ea typeface="Arial" pitchFamily="34" charset="-122"/>
                <a:cs typeface="Arial" pitchFamily="34" charset="-120"/>
              </a:rPr>
              <a:t>Recipes and thresholds update without opening the cabinet.</a:t>
            </a:r>
            <a:endParaRPr lang="en-US" sz="1950" dirty="0"/>
          </a:p>
        </p:txBody>
      </p:sp>
      <p:sp>
        <p:nvSpPr>
          <p:cNvPr id="15" name="Shape 13"/>
          <p:cNvSpPr/>
          <p:nvPr/>
        </p:nvSpPr>
        <p:spPr>
          <a:xfrm>
            <a:off x="5372100" y="5603677"/>
            <a:ext cx="5848350" cy="3235523"/>
          </a:xfrm>
          <a:prstGeom prst="roundRect">
            <a:avLst>
              <a:gd name="adj" fmla="val 5299"/>
            </a:avLst>
          </a:prstGeom>
          <a:solidFill>
            <a:srgbClr val="FFFFFF"/>
          </a:solidFill>
          <a:ln w="9525">
            <a:solidFill>
              <a:srgbClr val="DCE4ED"/>
            </a:solidFill>
            <a:prstDash val="solid"/>
          </a:ln>
        </p:spPr>
      </p:sp>
      <p:sp>
        <p:nvSpPr>
          <p:cNvPr id="16" name="Text 14"/>
          <p:cNvSpPr/>
          <p:nvPr/>
        </p:nvSpPr>
        <p:spPr>
          <a:xfrm>
            <a:off x="5705475" y="6658049"/>
            <a:ext cx="5699760" cy="357188"/>
          </a:xfrm>
          <a:prstGeom prst="rect">
            <a:avLst/>
          </a:prstGeom>
          <a:noFill/>
          <a:ln/>
        </p:spPr>
        <p:txBody>
          <a:bodyPr wrap="square" lIns="25400" tIns="25400" rIns="25400" bIns="25400" rtlCol="0" anchor="t">
            <a:normAutofit/>
          </a:bodyPr>
          <a:lstStyle/>
          <a:p>
            <a:pPr marL="0" indent="0" algn="l">
              <a:buNone/>
            </a:pPr>
            <a:r>
              <a:rPr lang="en-US" sz="2175" b="1" dirty="0">
                <a:solidFill>
                  <a:srgbClr val="0E7C71"/>
                </a:solidFill>
                <a:latin typeface="Arial" pitchFamily="34" charset="0"/>
                <a:ea typeface="Arial" pitchFamily="34" charset="-122"/>
                <a:cs typeface="Arial" pitchFamily="34" charset="-120"/>
              </a:rPr>
              <a:t>Automatic restore</a:t>
            </a:r>
            <a:endParaRPr lang="en-US" sz="2175" dirty="0"/>
          </a:p>
        </p:txBody>
      </p:sp>
      <p:sp>
        <p:nvSpPr>
          <p:cNvPr id="17" name="Text 15"/>
          <p:cNvSpPr/>
          <p:nvPr/>
        </p:nvSpPr>
        <p:spPr>
          <a:xfrm>
            <a:off x="5705475" y="7091437"/>
            <a:ext cx="5337048" cy="73149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3A4759"/>
                </a:solidFill>
                <a:latin typeface="Arial" pitchFamily="34" charset="0"/>
                <a:ea typeface="Arial" pitchFamily="34" charset="-122"/>
                <a:cs typeface="Arial" pitchFamily="34" charset="-120"/>
              </a:rPr>
              <a:t>A replacement device receives the stored parameters.</a:t>
            </a:r>
            <a:endParaRPr lang="en-US" sz="1950" dirty="0"/>
          </a:p>
        </p:txBody>
      </p:sp>
      <p:sp>
        <p:nvSpPr>
          <p:cNvPr id="18" name="Shape 16"/>
          <p:cNvSpPr/>
          <p:nvPr/>
        </p:nvSpPr>
        <p:spPr>
          <a:xfrm>
            <a:off x="11449050" y="5603677"/>
            <a:ext cx="5848350" cy="3235523"/>
          </a:xfrm>
          <a:prstGeom prst="roundRect">
            <a:avLst>
              <a:gd name="adj" fmla="val 5299"/>
            </a:avLst>
          </a:prstGeom>
          <a:solidFill>
            <a:srgbClr val="FFFFFF"/>
          </a:solidFill>
          <a:ln w="9525">
            <a:solidFill>
              <a:srgbClr val="DCE4ED"/>
            </a:solidFill>
            <a:prstDash val="solid"/>
          </a:ln>
        </p:spPr>
      </p:sp>
      <p:sp>
        <p:nvSpPr>
          <p:cNvPr id="19" name="Text 17"/>
          <p:cNvSpPr/>
          <p:nvPr/>
        </p:nvSpPr>
        <p:spPr>
          <a:xfrm>
            <a:off x="11782425" y="6658049"/>
            <a:ext cx="5699760" cy="357188"/>
          </a:xfrm>
          <a:prstGeom prst="rect">
            <a:avLst/>
          </a:prstGeom>
          <a:noFill/>
          <a:ln/>
        </p:spPr>
        <p:txBody>
          <a:bodyPr wrap="square" lIns="25400" tIns="25400" rIns="25400" bIns="25400" rtlCol="0" anchor="t">
            <a:normAutofit/>
          </a:bodyPr>
          <a:lstStyle/>
          <a:p>
            <a:pPr marL="0" indent="0" algn="l">
              <a:buNone/>
            </a:pPr>
            <a:r>
              <a:rPr lang="en-US" sz="2175" b="1" dirty="0">
                <a:solidFill>
                  <a:srgbClr val="0E7C71"/>
                </a:solidFill>
                <a:latin typeface="Arial" pitchFamily="34" charset="0"/>
                <a:ea typeface="Arial" pitchFamily="34" charset="-122"/>
                <a:cs typeface="Arial" pitchFamily="34" charset="-120"/>
              </a:rPr>
              <a:t>Meaningful HMI events</a:t>
            </a:r>
            <a:endParaRPr lang="en-US" sz="2175" dirty="0"/>
          </a:p>
        </p:txBody>
      </p:sp>
      <p:sp>
        <p:nvSpPr>
          <p:cNvPr id="20" name="Text 18"/>
          <p:cNvSpPr/>
          <p:nvPr/>
        </p:nvSpPr>
        <p:spPr>
          <a:xfrm>
            <a:off x="11782425" y="7091437"/>
            <a:ext cx="5337048" cy="73149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C8821B"/>
                </a:solidFill>
                <a:latin typeface="Courier New" pitchFamily="34" charset="0"/>
                <a:ea typeface="Courier New" pitchFamily="34" charset="-122"/>
                <a:cs typeface="Courier New" pitchFamily="34" charset="-120"/>
              </a:rPr>
              <a:t>16#5800 </a:t>
            </a:r>
            <a:r>
              <a:rPr lang="en-US" sz="1950" dirty="0">
                <a:solidFill>
                  <a:srgbClr val="3A4759"/>
                </a:solidFill>
                <a:latin typeface="Arial" pitchFamily="34" charset="0"/>
                <a:ea typeface="Arial" pitchFamily="34" charset="-122"/>
                <a:cs typeface="Arial" pitchFamily="34" charset="-120"/>
              </a:rPr>
              <a:t>becomes “optical path contaminated.”</a:t>
            </a:r>
            <a:endParaRPr lang="en-US" sz="1950" dirty="0"/>
          </a:p>
        </p:txBody>
      </p:sp>
      <p:sp>
        <p:nvSpPr>
          <p:cNvPr id="21" name="Shape 19"/>
          <p:cNvSpPr/>
          <p:nvPr/>
        </p:nvSpPr>
        <p:spPr>
          <a:xfrm>
            <a:off x="990600" y="9239250"/>
            <a:ext cx="16306800" cy="9525"/>
          </a:xfrm>
          <a:prstGeom prst="rect">
            <a:avLst/>
          </a:prstGeom>
          <a:solidFill>
            <a:srgbClr val="DCE4ED"/>
          </a:solidFill>
          <a:ln/>
        </p:spPr>
      </p:sp>
      <p:sp>
        <p:nvSpPr>
          <p:cNvPr id="22" name="Text 20"/>
          <p:cNvSpPr/>
          <p:nvPr/>
        </p:nvSpPr>
        <p:spPr>
          <a:xfrm>
            <a:off x="990600" y="9420225"/>
            <a:ext cx="6292803" cy="333375"/>
          </a:xfrm>
          <a:prstGeom prst="rect">
            <a:avLst/>
          </a:prstGeom>
          <a:noFill/>
          <a:ln/>
        </p:spPr>
        <p:txBody>
          <a:bodyPr wrap="square" lIns="25400" tIns="25400" rIns="25400" bIns="25400" rtlCol="0" anchor="t">
            <a:normAutofit/>
          </a:bodyPr>
          <a:lstStyle/>
          <a:p>
            <a:r>
              <a:rPr lang="en-US" sz="1800" kern="0" spc="75" dirty="0">
                <a:solidFill>
                  <a:srgbClr val="9AA8B6"/>
                </a:solidFill>
                <a:latin typeface="Courier New"/>
                <a:ea typeface="Courier New" pitchFamily="34" charset="-122"/>
                <a:cs typeface="Courier New"/>
              </a:rPr>
              <a:t> </a:t>
            </a:r>
            <a:r>
              <a:rPr lang="en-US" kern="0" spc="75">
                <a:solidFill>
                  <a:srgbClr val="7B8794"/>
                </a:solidFill>
                <a:latin typeface="Courier New"/>
                <a:ea typeface="Courier New" pitchFamily="34" charset="-122"/>
                <a:cs typeface="Courier New"/>
              </a:rPr>
              <a:t>Industrial Communication Standards</a:t>
            </a:r>
            <a:r>
              <a:rPr lang="en-US" sz="1800" kern="0" spc="75">
                <a:solidFill>
                  <a:srgbClr val="9AA8B6"/>
                </a:solidFill>
                <a:latin typeface="Courier New"/>
                <a:ea typeface="Courier New" pitchFamily="34" charset="-122"/>
                <a:cs typeface="Courier New"/>
              </a:rPr>
              <a:t>· HSHL</a:t>
            </a:r>
            <a:endParaRPr lang="en-US" sz="1800">
              <a:latin typeface="Courier New"/>
              <a:cs typeface="Courier New"/>
            </a:endParaRPr>
          </a:p>
        </p:txBody>
      </p:sp>
      <p:sp>
        <p:nvSpPr>
          <p:cNvPr id="23" name="Text 21"/>
          <p:cNvSpPr/>
          <p:nvPr/>
        </p:nvSpPr>
        <p:spPr>
          <a:xfrm>
            <a:off x="16270560" y="9420225"/>
            <a:ext cx="1103040"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07 / 12</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marL="0" indent="0" algn="l">
              <a:buNone/>
            </a:pPr>
            <a:r>
              <a:rPr lang="en-US" sz="1800" kern="0" spc="263" dirty="0">
                <a:solidFill>
                  <a:srgbClr val="0E7C71"/>
                </a:solidFill>
                <a:latin typeface="Courier New" pitchFamily="34" charset="0"/>
                <a:ea typeface="Courier New" pitchFamily="34" charset="-122"/>
                <a:cs typeface="Courier New" pitchFamily="34" charset="-120"/>
              </a:rPr>
              <a:t>APPLICATION</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marL="0" indent="0" algn="l">
              <a:lnSpc>
                <a:spcPct val="107000"/>
              </a:lnSpc>
              <a:buNone/>
            </a:pPr>
            <a:r>
              <a:rPr lang="en-US" sz="3900" b="1" kern="0" spc="-37" dirty="0">
                <a:solidFill>
                  <a:srgbClr val="102033"/>
                </a:solidFill>
                <a:latin typeface="Arial" pitchFamily="34" charset="0"/>
                <a:ea typeface="Arial" pitchFamily="34" charset="-122"/>
                <a:cs typeface="Arial" pitchFamily="34" charset="-120"/>
              </a:rPr>
              <a:t>Packaging cell: one master, four smart device links</a:t>
            </a:r>
            <a:endParaRPr lang="en-US" sz="3900" dirty="0"/>
          </a:p>
        </p:txBody>
      </p:sp>
      <p:sp>
        <p:nvSpPr>
          <p:cNvPr id="5" name="Shape 3"/>
          <p:cNvSpPr/>
          <p:nvPr/>
        </p:nvSpPr>
        <p:spPr>
          <a:xfrm>
            <a:off x="990600" y="3098602"/>
            <a:ext cx="7734300" cy="1066800"/>
          </a:xfrm>
          <a:prstGeom prst="roundRect">
            <a:avLst>
              <a:gd name="adj" fmla="val 14286"/>
            </a:avLst>
          </a:prstGeom>
          <a:solidFill>
            <a:srgbClr val="FFFFFF"/>
          </a:solidFill>
          <a:ln w="9525">
            <a:solidFill>
              <a:srgbClr val="DCE4ED"/>
            </a:solidFill>
            <a:prstDash val="solid"/>
          </a:ln>
        </p:spPr>
      </p:sp>
      <p:sp>
        <p:nvSpPr>
          <p:cNvPr id="6" name="Text 4"/>
          <p:cNvSpPr/>
          <p:nvPr/>
        </p:nvSpPr>
        <p:spPr>
          <a:xfrm>
            <a:off x="1266825" y="3317677"/>
            <a:ext cx="7900035"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02033"/>
                </a:solidFill>
                <a:latin typeface="Arial" pitchFamily="34" charset="0"/>
                <a:ea typeface="Arial" pitchFamily="34" charset="-122"/>
                <a:cs typeface="Arial" pitchFamily="34" charset="-120"/>
              </a:rPr>
              <a:t>Photoelectric</a:t>
            </a:r>
            <a:endParaRPr lang="en-US" sz="2025" dirty="0"/>
          </a:p>
        </p:txBody>
      </p:sp>
      <p:sp>
        <p:nvSpPr>
          <p:cNvPr id="7" name="Text 5"/>
          <p:cNvSpPr/>
          <p:nvPr/>
        </p:nvSpPr>
        <p:spPr>
          <a:xfrm>
            <a:off x="1266825" y="3651052"/>
            <a:ext cx="7900035" cy="333375"/>
          </a:xfrm>
          <a:prstGeom prst="rect">
            <a:avLst/>
          </a:prstGeom>
          <a:noFill/>
          <a:ln/>
        </p:spPr>
        <p:txBody>
          <a:bodyPr wrap="square" lIns="25400" tIns="25400" rIns="25400" bIns="25400" rtlCol="0" anchor="t">
            <a:normAutofit/>
          </a:bodyPr>
          <a:lstStyle/>
          <a:p>
            <a:pPr marL="0" indent="0" algn="l">
              <a:buNone/>
            </a:pPr>
            <a:r>
              <a:rPr lang="en-US" sz="1800" dirty="0">
                <a:solidFill>
                  <a:srgbClr val="5F7185"/>
                </a:solidFill>
                <a:latin typeface="Arial" pitchFamily="34" charset="0"/>
                <a:ea typeface="Arial" pitchFamily="34" charset="-122"/>
                <a:cs typeface="Arial" pitchFamily="34" charset="-120"/>
              </a:rPr>
              <a:t>Bottle detect</a:t>
            </a:r>
            <a:endParaRPr lang="en-US" sz="1800" dirty="0"/>
          </a:p>
        </p:txBody>
      </p:sp>
      <p:sp>
        <p:nvSpPr>
          <p:cNvPr id="8" name="Shape 6"/>
          <p:cNvSpPr/>
          <p:nvPr/>
        </p:nvSpPr>
        <p:spPr>
          <a:xfrm>
            <a:off x="990600" y="4336852"/>
            <a:ext cx="7734300" cy="1066800"/>
          </a:xfrm>
          <a:prstGeom prst="roundRect">
            <a:avLst>
              <a:gd name="adj" fmla="val 14286"/>
            </a:avLst>
          </a:prstGeom>
          <a:solidFill>
            <a:srgbClr val="FFFFFF"/>
          </a:solidFill>
          <a:ln w="9525">
            <a:solidFill>
              <a:srgbClr val="DCE4ED"/>
            </a:solidFill>
            <a:prstDash val="solid"/>
          </a:ln>
        </p:spPr>
      </p:sp>
      <p:sp>
        <p:nvSpPr>
          <p:cNvPr id="9" name="Text 7"/>
          <p:cNvSpPr/>
          <p:nvPr/>
        </p:nvSpPr>
        <p:spPr>
          <a:xfrm>
            <a:off x="1266825" y="4555927"/>
            <a:ext cx="7900035"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02033"/>
                </a:solidFill>
                <a:latin typeface="Arial" pitchFamily="34" charset="0"/>
                <a:ea typeface="Arial" pitchFamily="34" charset="-122"/>
                <a:cs typeface="Arial" pitchFamily="34" charset="-120"/>
              </a:rPr>
              <a:t>Distance</a:t>
            </a:r>
            <a:endParaRPr lang="en-US" sz="2025" dirty="0"/>
          </a:p>
        </p:txBody>
      </p:sp>
      <p:sp>
        <p:nvSpPr>
          <p:cNvPr id="10" name="Text 8"/>
          <p:cNvSpPr/>
          <p:nvPr/>
        </p:nvSpPr>
        <p:spPr>
          <a:xfrm>
            <a:off x="1266825" y="4889302"/>
            <a:ext cx="7900035" cy="333375"/>
          </a:xfrm>
          <a:prstGeom prst="rect">
            <a:avLst/>
          </a:prstGeom>
          <a:noFill/>
          <a:ln/>
        </p:spPr>
        <p:txBody>
          <a:bodyPr wrap="square" lIns="25400" tIns="25400" rIns="25400" bIns="25400" rtlCol="0" anchor="t">
            <a:normAutofit/>
          </a:bodyPr>
          <a:lstStyle/>
          <a:p>
            <a:pPr marL="0" indent="0" algn="l">
              <a:buNone/>
            </a:pPr>
            <a:r>
              <a:rPr lang="en-US" sz="1800" dirty="0">
                <a:solidFill>
                  <a:srgbClr val="5F7185"/>
                </a:solidFill>
                <a:latin typeface="Arial" pitchFamily="34" charset="0"/>
                <a:ea typeface="Arial" pitchFamily="34" charset="-122"/>
                <a:cs typeface="Arial" pitchFamily="34" charset="-120"/>
              </a:rPr>
              <a:t>Fill level</a:t>
            </a:r>
            <a:endParaRPr lang="en-US" sz="1800" dirty="0"/>
          </a:p>
        </p:txBody>
      </p:sp>
      <p:sp>
        <p:nvSpPr>
          <p:cNvPr id="11" name="Shape 9"/>
          <p:cNvSpPr/>
          <p:nvPr/>
        </p:nvSpPr>
        <p:spPr>
          <a:xfrm>
            <a:off x="990600" y="5575102"/>
            <a:ext cx="7734300" cy="1066800"/>
          </a:xfrm>
          <a:prstGeom prst="roundRect">
            <a:avLst>
              <a:gd name="adj" fmla="val 14286"/>
            </a:avLst>
          </a:prstGeom>
          <a:solidFill>
            <a:srgbClr val="FFFFFF"/>
          </a:solidFill>
          <a:ln w="9525">
            <a:solidFill>
              <a:srgbClr val="DCE4ED"/>
            </a:solidFill>
            <a:prstDash val="solid"/>
          </a:ln>
        </p:spPr>
      </p:sp>
      <p:sp>
        <p:nvSpPr>
          <p:cNvPr id="12" name="Text 10"/>
          <p:cNvSpPr/>
          <p:nvPr/>
        </p:nvSpPr>
        <p:spPr>
          <a:xfrm>
            <a:off x="1266825" y="5794177"/>
            <a:ext cx="7900035"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02033"/>
                </a:solidFill>
                <a:latin typeface="Arial" pitchFamily="34" charset="0"/>
                <a:ea typeface="Arial" pitchFamily="34" charset="-122"/>
                <a:cs typeface="Arial" pitchFamily="34" charset="-120"/>
              </a:rPr>
              <a:t>Pressure</a:t>
            </a:r>
            <a:endParaRPr lang="en-US" sz="2025" dirty="0"/>
          </a:p>
        </p:txBody>
      </p:sp>
      <p:sp>
        <p:nvSpPr>
          <p:cNvPr id="13" name="Text 11"/>
          <p:cNvSpPr/>
          <p:nvPr/>
        </p:nvSpPr>
        <p:spPr>
          <a:xfrm>
            <a:off x="1266825" y="6127552"/>
            <a:ext cx="7900035" cy="333375"/>
          </a:xfrm>
          <a:prstGeom prst="rect">
            <a:avLst/>
          </a:prstGeom>
          <a:noFill/>
          <a:ln/>
        </p:spPr>
        <p:txBody>
          <a:bodyPr wrap="square" lIns="25400" tIns="25400" rIns="25400" bIns="25400" rtlCol="0" anchor="t">
            <a:normAutofit/>
          </a:bodyPr>
          <a:lstStyle/>
          <a:p>
            <a:pPr marL="0" indent="0" algn="l">
              <a:buNone/>
            </a:pPr>
            <a:r>
              <a:rPr lang="en-US" sz="1800" dirty="0">
                <a:solidFill>
                  <a:srgbClr val="5F7185"/>
                </a:solidFill>
                <a:latin typeface="Arial" pitchFamily="34" charset="0"/>
                <a:ea typeface="Arial" pitchFamily="34" charset="-122"/>
                <a:cs typeface="Arial" pitchFamily="34" charset="-120"/>
              </a:rPr>
              <a:t>Pneumatics</a:t>
            </a:r>
            <a:endParaRPr lang="en-US" sz="1800" dirty="0"/>
          </a:p>
        </p:txBody>
      </p:sp>
      <p:sp>
        <p:nvSpPr>
          <p:cNvPr id="14" name="Shape 12"/>
          <p:cNvSpPr/>
          <p:nvPr/>
        </p:nvSpPr>
        <p:spPr>
          <a:xfrm>
            <a:off x="990600" y="6813352"/>
            <a:ext cx="7734300" cy="1066800"/>
          </a:xfrm>
          <a:prstGeom prst="roundRect">
            <a:avLst>
              <a:gd name="adj" fmla="val 14286"/>
            </a:avLst>
          </a:prstGeom>
          <a:solidFill>
            <a:srgbClr val="FFFFFF"/>
          </a:solidFill>
          <a:ln w="9525">
            <a:solidFill>
              <a:srgbClr val="DCE4ED"/>
            </a:solidFill>
            <a:prstDash val="solid"/>
          </a:ln>
        </p:spPr>
      </p:sp>
      <p:sp>
        <p:nvSpPr>
          <p:cNvPr id="15" name="Text 13"/>
          <p:cNvSpPr/>
          <p:nvPr/>
        </p:nvSpPr>
        <p:spPr>
          <a:xfrm>
            <a:off x="1266825" y="7032427"/>
            <a:ext cx="7900035"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02033"/>
                </a:solidFill>
                <a:latin typeface="Arial" pitchFamily="34" charset="0"/>
                <a:ea typeface="Arial" pitchFamily="34" charset="-122"/>
                <a:cs typeface="Arial" pitchFamily="34" charset="-120"/>
              </a:rPr>
              <a:t>Valve</a:t>
            </a:r>
            <a:endParaRPr lang="en-US" sz="2025" dirty="0"/>
          </a:p>
        </p:txBody>
      </p:sp>
      <p:sp>
        <p:nvSpPr>
          <p:cNvPr id="16" name="Text 14"/>
          <p:cNvSpPr/>
          <p:nvPr/>
        </p:nvSpPr>
        <p:spPr>
          <a:xfrm>
            <a:off x="1266825" y="7365802"/>
            <a:ext cx="7900035" cy="333375"/>
          </a:xfrm>
          <a:prstGeom prst="rect">
            <a:avLst/>
          </a:prstGeom>
          <a:noFill/>
          <a:ln/>
        </p:spPr>
        <p:txBody>
          <a:bodyPr wrap="square" lIns="25400" tIns="25400" rIns="25400" bIns="25400" rtlCol="0" anchor="t">
            <a:normAutofit/>
          </a:bodyPr>
          <a:lstStyle/>
          <a:p>
            <a:pPr marL="0" indent="0" algn="l">
              <a:buNone/>
            </a:pPr>
            <a:r>
              <a:rPr lang="en-US" sz="1800" dirty="0">
                <a:solidFill>
                  <a:srgbClr val="5F7185"/>
                </a:solidFill>
                <a:latin typeface="Arial" pitchFamily="34" charset="0"/>
                <a:ea typeface="Arial" pitchFamily="34" charset="-122"/>
                <a:cs typeface="Arial" pitchFamily="34" charset="-120"/>
              </a:rPr>
              <a:t>Sorting gate</a:t>
            </a:r>
            <a:endParaRPr lang="en-US" sz="1800" dirty="0"/>
          </a:p>
        </p:txBody>
      </p:sp>
      <p:sp>
        <p:nvSpPr>
          <p:cNvPr id="17" name="Text 15"/>
          <p:cNvSpPr/>
          <p:nvPr/>
        </p:nvSpPr>
        <p:spPr>
          <a:xfrm>
            <a:off x="9010650" y="5039320"/>
            <a:ext cx="933450" cy="581025"/>
          </a:xfrm>
          <a:prstGeom prst="rect">
            <a:avLst/>
          </a:prstGeom>
          <a:noFill/>
          <a:ln/>
        </p:spPr>
        <p:txBody>
          <a:bodyPr wrap="square" lIns="25400" tIns="25400" rIns="25400" bIns="25400" rtlCol="0" anchor="t">
            <a:normAutofit/>
          </a:bodyPr>
          <a:lstStyle/>
          <a:p>
            <a:pPr marL="0" indent="0" algn="l">
              <a:buNone/>
            </a:pPr>
            <a:r>
              <a:rPr lang="en-US" sz="1650" dirty="0">
                <a:solidFill>
                  <a:srgbClr val="0E7C71"/>
                </a:solidFill>
                <a:latin typeface="Courier New" pitchFamily="34" charset="0"/>
                <a:ea typeface="Courier New" pitchFamily="34" charset="-122"/>
                <a:cs typeface="Courier New" pitchFamily="34" charset="-120"/>
              </a:rPr>
              <a:t>IO-Link</a:t>
            </a:r>
            <a:endParaRPr lang="en-US" sz="1650" dirty="0"/>
          </a:p>
        </p:txBody>
      </p:sp>
      <p:sp>
        <p:nvSpPr>
          <p:cNvPr id="18" name="Shape 16"/>
          <p:cNvSpPr/>
          <p:nvPr/>
        </p:nvSpPr>
        <p:spPr>
          <a:xfrm>
            <a:off x="9010650" y="5639395"/>
            <a:ext cx="857250" cy="23813"/>
          </a:xfrm>
          <a:prstGeom prst="rect">
            <a:avLst/>
          </a:prstGeom>
          <a:solidFill>
            <a:srgbClr val="0E7C71"/>
          </a:solidFill>
          <a:ln/>
        </p:spPr>
      </p:sp>
      <p:sp>
        <p:nvSpPr>
          <p:cNvPr id="19" name="Text 17"/>
          <p:cNvSpPr/>
          <p:nvPr/>
        </p:nvSpPr>
        <p:spPr>
          <a:xfrm>
            <a:off x="9338667" y="5644158"/>
            <a:ext cx="277341" cy="333375"/>
          </a:xfrm>
          <a:prstGeom prst="rect">
            <a:avLst/>
          </a:prstGeom>
          <a:noFill/>
          <a:ln/>
        </p:spPr>
        <p:txBody>
          <a:bodyPr wrap="square" lIns="25400" tIns="25400" rIns="25400" bIns="25400" rtlCol="0" anchor="t">
            <a:normAutofit/>
          </a:bodyPr>
          <a:lstStyle/>
          <a:p>
            <a:pPr marL="0" indent="0" algn="l">
              <a:buNone/>
            </a:pPr>
            <a:r>
              <a:rPr lang="en-US" sz="1800" dirty="0">
                <a:solidFill>
                  <a:srgbClr val="0E7C71"/>
                </a:solidFill>
                <a:latin typeface="Arial" pitchFamily="34" charset="0"/>
                <a:ea typeface="Arial" pitchFamily="34" charset="-122"/>
                <a:cs typeface="Arial" pitchFamily="34" charset="-120"/>
              </a:rPr>
              <a:t>▶</a:t>
            </a:r>
            <a:endParaRPr lang="en-US" sz="1800" dirty="0"/>
          </a:p>
        </p:txBody>
      </p:sp>
      <p:sp>
        <p:nvSpPr>
          <p:cNvPr id="20" name="Shape 18"/>
          <p:cNvSpPr/>
          <p:nvPr/>
        </p:nvSpPr>
        <p:spPr>
          <a:xfrm>
            <a:off x="10153650" y="4415433"/>
            <a:ext cx="2857500" cy="2147888"/>
          </a:xfrm>
          <a:prstGeom prst="roundRect">
            <a:avLst>
              <a:gd name="adj" fmla="val 9756"/>
            </a:avLst>
          </a:prstGeom>
          <a:solidFill>
            <a:srgbClr val="EAF7F4"/>
          </a:solidFill>
          <a:ln w="14288">
            <a:solidFill>
              <a:srgbClr val="BFE6DF"/>
            </a:solidFill>
            <a:prstDash val="solid"/>
          </a:ln>
          <a:effectLst>
            <a:outerShdw blurRad="476250" dist="209550" dir="5400000" algn="bl" rotWithShape="0">
              <a:srgbClr val="0E7C71">
                <a:alpha val="40000"/>
              </a:srgbClr>
            </a:outerShdw>
          </a:effectLst>
        </p:spPr>
      </p:sp>
      <p:sp>
        <p:nvSpPr>
          <p:cNvPr id="21" name="Text 19"/>
          <p:cNvSpPr/>
          <p:nvPr/>
        </p:nvSpPr>
        <p:spPr>
          <a:xfrm>
            <a:off x="10340816" y="4867870"/>
            <a:ext cx="2483168" cy="533400"/>
          </a:xfrm>
          <a:prstGeom prst="rect">
            <a:avLst/>
          </a:prstGeom>
          <a:noFill/>
          <a:ln/>
        </p:spPr>
        <p:txBody>
          <a:bodyPr wrap="square" lIns="25400" tIns="25400" rIns="25400" bIns="25400" rtlCol="0" anchor="t">
            <a:normAutofit/>
          </a:bodyPr>
          <a:lstStyle/>
          <a:p>
            <a:pPr marL="0" indent="0" algn="ctr">
              <a:lnSpc>
                <a:spcPct val="100000"/>
              </a:lnSpc>
              <a:buNone/>
            </a:pPr>
            <a:r>
              <a:rPr lang="en-US" sz="3900" b="1" dirty="0">
                <a:solidFill>
                  <a:srgbClr val="0E7C71"/>
                </a:solidFill>
                <a:latin typeface="Arial" pitchFamily="34" charset="0"/>
                <a:ea typeface="Arial" pitchFamily="34" charset="-122"/>
                <a:cs typeface="Arial" pitchFamily="34" charset="-120"/>
              </a:rPr>
              <a:t>8</a:t>
            </a:r>
            <a:endParaRPr lang="en-US" sz="3900" dirty="0"/>
          </a:p>
        </p:txBody>
      </p:sp>
      <p:sp>
        <p:nvSpPr>
          <p:cNvPr id="22" name="Text 20"/>
          <p:cNvSpPr/>
          <p:nvPr/>
        </p:nvSpPr>
        <p:spPr>
          <a:xfrm>
            <a:off x="10340816" y="5458420"/>
            <a:ext cx="2483168" cy="323850"/>
          </a:xfrm>
          <a:prstGeom prst="rect">
            <a:avLst/>
          </a:prstGeom>
          <a:noFill/>
          <a:ln/>
        </p:spPr>
        <p:txBody>
          <a:bodyPr wrap="square" lIns="25400" tIns="25400" rIns="25400" bIns="25400" rtlCol="0" anchor="t">
            <a:normAutofit/>
          </a:bodyPr>
          <a:lstStyle/>
          <a:p>
            <a:pPr marL="0" indent="0" algn="ctr">
              <a:buNone/>
            </a:pPr>
            <a:r>
              <a:rPr lang="en-US" sz="1725" kern="0" spc="113" dirty="0">
                <a:solidFill>
                  <a:srgbClr val="0E7C71"/>
                </a:solidFill>
                <a:latin typeface="Courier New" pitchFamily="34" charset="0"/>
                <a:ea typeface="Courier New" pitchFamily="34" charset="-122"/>
                <a:cs typeface="Courier New" pitchFamily="34" charset="-120"/>
              </a:rPr>
              <a:t>PORT</a:t>
            </a:r>
            <a:endParaRPr lang="en-US" sz="1725" dirty="0"/>
          </a:p>
        </p:txBody>
      </p:sp>
      <p:sp>
        <p:nvSpPr>
          <p:cNvPr id="23" name="Text 21"/>
          <p:cNvSpPr/>
          <p:nvPr/>
        </p:nvSpPr>
        <p:spPr>
          <a:xfrm>
            <a:off x="10340816" y="5801320"/>
            <a:ext cx="2483168" cy="347663"/>
          </a:xfrm>
          <a:prstGeom prst="rect">
            <a:avLst/>
          </a:prstGeom>
          <a:noFill/>
          <a:ln/>
        </p:spPr>
        <p:txBody>
          <a:bodyPr wrap="square" lIns="25400" tIns="25400" rIns="25400" bIns="25400" rtlCol="0" anchor="t">
            <a:normAutofit/>
          </a:bodyPr>
          <a:lstStyle/>
          <a:p>
            <a:pPr marL="0" indent="0" algn="ctr">
              <a:buNone/>
            </a:pPr>
            <a:r>
              <a:rPr lang="en-US" sz="2100" b="1" dirty="0">
                <a:solidFill>
                  <a:srgbClr val="0E7C71"/>
                </a:solidFill>
                <a:latin typeface="Arial" pitchFamily="34" charset="0"/>
                <a:ea typeface="Arial" pitchFamily="34" charset="-122"/>
                <a:cs typeface="Arial" pitchFamily="34" charset="-120"/>
              </a:rPr>
              <a:t>IO-Link master</a:t>
            </a:r>
            <a:endParaRPr lang="en-US" sz="2100" dirty="0"/>
          </a:p>
        </p:txBody>
      </p:sp>
      <p:sp>
        <p:nvSpPr>
          <p:cNvPr id="24" name="Text 22"/>
          <p:cNvSpPr/>
          <p:nvPr/>
        </p:nvSpPr>
        <p:spPr>
          <a:xfrm>
            <a:off x="13222635" y="5175052"/>
            <a:ext cx="1082055" cy="309563"/>
          </a:xfrm>
          <a:prstGeom prst="rect">
            <a:avLst/>
          </a:prstGeom>
          <a:noFill/>
          <a:ln/>
        </p:spPr>
        <p:txBody>
          <a:bodyPr wrap="square" lIns="25400" tIns="25400" rIns="25400" bIns="25400" rtlCol="0" anchor="t">
            <a:normAutofit/>
          </a:bodyPr>
          <a:lstStyle/>
          <a:p>
            <a:pPr marL="0" indent="0" algn="l">
              <a:buNone/>
            </a:pPr>
            <a:r>
              <a:rPr lang="en-US" sz="1650" dirty="0">
                <a:solidFill>
                  <a:srgbClr val="276EF1"/>
                </a:solidFill>
                <a:latin typeface="Courier New" pitchFamily="34" charset="0"/>
                <a:ea typeface="Courier New" pitchFamily="34" charset="-122"/>
                <a:cs typeface="Courier New" pitchFamily="34" charset="-120"/>
              </a:rPr>
              <a:t>PROFINET</a:t>
            </a:r>
            <a:endParaRPr lang="en-US" sz="1650" dirty="0"/>
          </a:p>
        </p:txBody>
      </p:sp>
      <p:sp>
        <p:nvSpPr>
          <p:cNvPr id="25" name="Shape 23"/>
          <p:cNvSpPr/>
          <p:nvPr/>
        </p:nvSpPr>
        <p:spPr>
          <a:xfrm>
            <a:off x="13296900" y="5503664"/>
            <a:ext cx="857250" cy="23813"/>
          </a:xfrm>
          <a:prstGeom prst="rect">
            <a:avLst/>
          </a:prstGeom>
          <a:solidFill>
            <a:srgbClr val="276EF1"/>
          </a:solidFill>
          <a:ln/>
        </p:spPr>
      </p:sp>
      <p:sp>
        <p:nvSpPr>
          <p:cNvPr id="26" name="Text 24"/>
          <p:cNvSpPr/>
          <p:nvPr/>
        </p:nvSpPr>
        <p:spPr>
          <a:xfrm>
            <a:off x="13624917" y="5508427"/>
            <a:ext cx="277341" cy="333375"/>
          </a:xfrm>
          <a:prstGeom prst="rect">
            <a:avLst/>
          </a:prstGeom>
          <a:noFill/>
          <a:ln/>
        </p:spPr>
        <p:txBody>
          <a:bodyPr wrap="square" lIns="25400" tIns="25400" rIns="25400" bIns="25400" rtlCol="0" anchor="t">
            <a:normAutofit/>
          </a:bodyPr>
          <a:lstStyle/>
          <a:p>
            <a:pPr marL="0" indent="0" algn="l">
              <a:buNone/>
            </a:pPr>
            <a:r>
              <a:rPr lang="en-US" sz="1800" dirty="0">
                <a:solidFill>
                  <a:srgbClr val="276EF1"/>
                </a:solidFill>
                <a:latin typeface="Arial" pitchFamily="34" charset="0"/>
                <a:ea typeface="Arial" pitchFamily="34" charset="-122"/>
                <a:cs typeface="Arial" pitchFamily="34" charset="-120"/>
              </a:rPr>
              <a:t>▶</a:t>
            </a:r>
            <a:endParaRPr lang="en-US" sz="1800" dirty="0"/>
          </a:p>
        </p:txBody>
      </p:sp>
      <p:sp>
        <p:nvSpPr>
          <p:cNvPr id="27" name="Shape 25"/>
          <p:cNvSpPr/>
          <p:nvPr/>
        </p:nvSpPr>
        <p:spPr>
          <a:xfrm>
            <a:off x="14439900" y="4632127"/>
            <a:ext cx="2857500" cy="1714500"/>
          </a:xfrm>
          <a:prstGeom prst="roundRect">
            <a:avLst>
              <a:gd name="adj" fmla="val 12222"/>
            </a:avLst>
          </a:prstGeom>
          <a:solidFill>
            <a:srgbClr val="102033"/>
          </a:solidFill>
          <a:ln/>
        </p:spPr>
      </p:sp>
      <p:sp>
        <p:nvSpPr>
          <p:cNvPr id="28" name="Text 26"/>
          <p:cNvSpPr/>
          <p:nvPr/>
        </p:nvSpPr>
        <p:spPr>
          <a:xfrm>
            <a:off x="14653260" y="5070277"/>
            <a:ext cx="2430780" cy="409575"/>
          </a:xfrm>
          <a:prstGeom prst="rect">
            <a:avLst/>
          </a:prstGeom>
          <a:noFill/>
          <a:ln/>
        </p:spPr>
        <p:txBody>
          <a:bodyPr wrap="square" lIns="25400" tIns="25400" rIns="25400" bIns="25400" rtlCol="0" anchor="t">
            <a:normAutofit/>
          </a:bodyPr>
          <a:lstStyle/>
          <a:p>
            <a:pPr marL="0" indent="0" algn="ctr">
              <a:buNone/>
            </a:pPr>
            <a:r>
              <a:rPr lang="en-US" sz="2550" b="1" dirty="0">
                <a:solidFill>
                  <a:srgbClr val="FFFFFF"/>
                </a:solidFill>
                <a:latin typeface="Arial" pitchFamily="34" charset="0"/>
                <a:ea typeface="Arial" pitchFamily="34" charset="-122"/>
                <a:cs typeface="Arial" pitchFamily="34" charset="-120"/>
              </a:rPr>
              <a:t>PLC + HMI</a:t>
            </a:r>
            <a:endParaRPr lang="en-US" sz="2550" dirty="0"/>
          </a:p>
        </p:txBody>
      </p:sp>
      <p:sp>
        <p:nvSpPr>
          <p:cNvPr id="29" name="Text 27"/>
          <p:cNvSpPr/>
          <p:nvPr/>
        </p:nvSpPr>
        <p:spPr>
          <a:xfrm>
            <a:off x="14653260" y="5575102"/>
            <a:ext cx="2430780" cy="371475"/>
          </a:xfrm>
          <a:prstGeom prst="rect">
            <a:avLst/>
          </a:prstGeom>
          <a:noFill/>
          <a:ln/>
        </p:spPr>
        <p:txBody>
          <a:bodyPr wrap="square" lIns="25400" tIns="25400" rIns="25400" bIns="25400" rtlCol="0" anchor="t">
            <a:normAutofit/>
          </a:bodyPr>
          <a:lstStyle/>
          <a:p>
            <a:pPr marL="0" indent="0" algn="ctr">
              <a:lnSpc>
                <a:spcPct val="140000"/>
              </a:lnSpc>
              <a:buNone/>
            </a:pPr>
            <a:r>
              <a:rPr lang="en-US" sz="1875" dirty="0">
                <a:solidFill>
                  <a:srgbClr val="AEBCCB"/>
                </a:solidFill>
                <a:latin typeface="Arial" pitchFamily="34" charset="0"/>
                <a:ea typeface="Arial" pitchFamily="34" charset="-122"/>
                <a:cs typeface="Arial" pitchFamily="34" charset="-120"/>
              </a:rPr>
              <a:t>accept / reject logic</a:t>
            </a:r>
            <a:endParaRPr lang="en-US" sz="1875" dirty="0"/>
          </a:p>
        </p:txBody>
      </p:sp>
      <p:sp>
        <p:nvSpPr>
          <p:cNvPr id="30" name="Shape 28"/>
          <p:cNvSpPr/>
          <p:nvPr/>
        </p:nvSpPr>
        <p:spPr>
          <a:xfrm>
            <a:off x="990600" y="9239250"/>
            <a:ext cx="16306800" cy="9525"/>
          </a:xfrm>
          <a:prstGeom prst="rect">
            <a:avLst/>
          </a:prstGeom>
          <a:solidFill>
            <a:srgbClr val="DCE4ED"/>
          </a:solidFill>
          <a:ln/>
        </p:spPr>
      </p:sp>
      <p:sp>
        <p:nvSpPr>
          <p:cNvPr id="31" name="Text 29"/>
          <p:cNvSpPr/>
          <p:nvPr/>
        </p:nvSpPr>
        <p:spPr>
          <a:xfrm>
            <a:off x="990600" y="9420225"/>
            <a:ext cx="6292803" cy="333375"/>
          </a:xfrm>
          <a:prstGeom prst="rect">
            <a:avLst/>
          </a:prstGeom>
          <a:noFill/>
          <a:ln/>
        </p:spPr>
        <p:txBody>
          <a:bodyPr wrap="square" lIns="25400" tIns="25400" rIns="25400" bIns="25400" rtlCol="0" anchor="t">
            <a:normAutofit/>
          </a:bodyPr>
          <a:lstStyle/>
          <a:p>
            <a:r>
              <a:rPr lang="en-US" sz="1800" kern="0" spc="75" dirty="0">
                <a:solidFill>
                  <a:srgbClr val="9AA8B6"/>
                </a:solidFill>
                <a:latin typeface="Courier New"/>
                <a:ea typeface="Courier New" pitchFamily="34" charset="-122"/>
                <a:cs typeface="Courier New"/>
              </a:rPr>
              <a:t> </a:t>
            </a:r>
            <a:r>
              <a:rPr lang="en-US" kern="0" spc="75">
                <a:solidFill>
                  <a:srgbClr val="7B8794"/>
                </a:solidFill>
                <a:latin typeface="Courier New"/>
                <a:ea typeface="Courier New" pitchFamily="34" charset="-122"/>
                <a:cs typeface="Courier New"/>
              </a:rPr>
              <a:t>Industrial Communication Standards</a:t>
            </a:r>
            <a:r>
              <a:rPr lang="en-US" sz="1800" kern="0" spc="75">
                <a:solidFill>
                  <a:srgbClr val="9AA8B6"/>
                </a:solidFill>
                <a:latin typeface="Courier New"/>
                <a:ea typeface="Courier New" pitchFamily="34" charset="-122"/>
                <a:cs typeface="Courier New"/>
              </a:rPr>
              <a:t>· HSHL</a:t>
            </a:r>
            <a:endParaRPr lang="en-US" sz="1800">
              <a:latin typeface="Courier New"/>
              <a:cs typeface="Courier New"/>
            </a:endParaRPr>
          </a:p>
        </p:txBody>
      </p:sp>
      <p:sp>
        <p:nvSpPr>
          <p:cNvPr id="32" name="Text 30"/>
          <p:cNvSpPr/>
          <p:nvPr/>
        </p:nvSpPr>
        <p:spPr>
          <a:xfrm>
            <a:off x="16270560" y="9420225"/>
            <a:ext cx="1103040"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08 / 12</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marL="0" indent="0" algn="l">
              <a:buNone/>
            </a:pPr>
            <a:r>
              <a:rPr lang="en-US" sz="1800" kern="0" spc="263" dirty="0">
                <a:solidFill>
                  <a:srgbClr val="0E7C71"/>
                </a:solidFill>
                <a:latin typeface="Courier New" pitchFamily="34" charset="0"/>
                <a:ea typeface="Courier New" pitchFamily="34" charset="-122"/>
                <a:cs typeface="Courier New" pitchFamily="34" charset="-120"/>
              </a:rPr>
              <a:t>METHOD</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marL="0" indent="0" algn="l">
              <a:lnSpc>
                <a:spcPct val="107000"/>
              </a:lnSpc>
              <a:buNone/>
            </a:pPr>
            <a:r>
              <a:rPr lang="en-US" sz="3900" b="1" kern="0" spc="-37" dirty="0">
                <a:solidFill>
                  <a:srgbClr val="102033"/>
                </a:solidFill>
                <a:latin typeface="Arial" pitchFamily="34" charset="0"/>
                <a:ea typeface="Arial" pitchFamily="34" charset="-122"/>
                <a:cs typeface="Arial" pitchFamily="34" charset="-120"/>
              </a:rPr>
              <a:t>Requirements-based evaluation</a:t>
            </a:r>
            <a:endParaRPr lang="en-US" sz="3900" dirty="0"/>
          </a:p>
        </p:txBody>
      </p:sp>
      <p:sp>
        <p:nvSpPr>
          <p:cNvPr id="5" name="Shape 3"/>
          <p:cNvSpPr/>
          <p:nvPr/>
        </p:nvSpPr>
        <p:spPr>
          <a:xfrm>
            <a:off x="990600" y="3110508"/>
            <a:ext cx="16306800" cy="852488"/>
          </a:xfrm>
          <a:prstGeom prst="roundRect">
            <a:avLst>
              <a:gd name="adj" fmla="val 17877"/>
            </a:avLst>
          </a:prstGeom>
          <a:solidFill>
            <a:srgbClr val="FFFFFF"/>
          </a:solidFill>
          <a:ln w="9525">
            <a:solidFill>
              <a:srgbClr val="DCE4ED"/>
            </a:solidFill>
            <a:prstDash val="solid"/>
          </a:ln>
        </p:spPr>
      </p:sp>
      <p:sp>
        <p:nvSpPr>
          <p:cNvPr id="6" name="Text 4"/>
          <p:cNvSpPr/>
          <p:nvPr/>
        </p:nvSpPr>
        <p:spPr>
          <a:xfrm>
            <a:off x="1381125" y="3367683"/>
            <a:ext cx="2933700" cy="376238"/>
          </a:xfrm>
          <a:prstGeom prst="rect">
            <a:avLst/>
          </a:prstGeom>
          <a:noFill/>
          <a:ln/>
        </p:spPr>
        <p:txBody>
          <a:bodyPr wrap="square" lIns="25400" tIns="25400" rIns="25400" bIns="25400" rtlCol="0" anchor="t">
            <a:normAutofit/>
          </a:bodyPr>
          <a:lstStyle/>
          <a:p>
            <a:pPr marL="0" indent="0" algn="l">
              <a:buNone/>
            </a:pPr>
            <a:r>
              <a:rPr lang="en-US" sz="2325" b="1" dirty="0">
                <a:solidFill>
                  <a:srgbClr val="102033"/>
                </a:solidFill>
                <a:latin typeface="Arial" pitchFamily="34" charset="0"/>
                <a:ea typeface="Arial" pitchFamily="34" charset="-122"/>
                <a:cs typeface="Arial" pitchFamily="34" charset="-120"/>
              </a:rPr>
              <a:t>Traceability</a:t>
            </a:r>
            <a:endParaRPr lang="en-US" sz="2325" dirty="0"/>
          </a:p>
        </p:txBody>
      </p:sp>
      <p:sp>
        <p:nvSpPr>
          <p:cNvPr id="7" name="Text 5"/>
          <p:cNvSpPr/>
          <p:nvPr/>
        </p:nvSpPr>
        <p:spPr>
          <a:xfrm>
            <a:off x="4352925" y="3370064"/>
            <a:ext cx="11043285" cy="371475"/>
          </a:xfrm>
          <a:prstGeom prst="rect">
            <a:avLst/>
          </a:prstGeom>
          <a:noFill/>
          <a:ln/>
        </p:spPr>
        <p:txBody>
          <a:bodyPr wrap="square" lIns="25400" tIns="25400" rIns="25400" bIns="25400" rtlCol="0" anchor="t">
            <a:normAutofit/>
          </a:bodyPr>
          <a:lstStyle/>
          <a:p>
            <a:pPr marL="0" indent="0" algn="l">
              <a:buNone/>
            </a:pPr>
            <a:r>
              <a:rPr lang="en-US" sz="2025" dirty="0">
                <a:solidFill>
                  <a:srgbClr val="5F7185"/>
                </a:solidFill>
                <a:latin typeface="Arial" pitchFamily="34" charset="0"/>
                <a:ea typeface="Arial" pitchFamily="34" charset="-122"/>
                <a:cs typeface="Arial" pitchFamily="34" charset="-120"/>
              </a:rPr>
              <a:t>Type, serial, status</a:t>
            </a:r>
            <a:endParaRPr lang="en-US" sz="2025" dirty="0"/>
          </a:p>
        </p:txBody>
      </p:sp>
      <p:sp>
        <p:nvSpPr>
          <p:cNvPr id="8" name="Shape 6"/>
          <p:cNvSpPr/>
          <p:nvPr/>
        </p:nvSpPr>
        <p:spPr>
          <a:xfrm>
            <a:off x="14697075" y="3451027"/>
            <a:ext cx="171450" cy="171450"/>
          </a:xfrm>
          <a:prstGeom prst="ellipse">
            <a:avLst/>
          </a:prstGeom>
          <a:solidFill>
            <a:srgbClr val="0E7C71"/>
          </a:solidFill>
          <a:ln/>
        </p:spPr>
      </p:sp>
      <p:sp>
        <p:nvSpPr>
          <p:cNvPr id="9" name="Shape 7"/>
          <p:cNvSpPr/>
          <p:nvPr/>
        </p:nvSpPr>
        <p:spPr>
          <a:xfrm>
            <a:off x="14954250" y="3451027"/>
            <a:ext cx="171450" cy="171450"/>
          </a:xfrm>
          <a:prstGeom prst="ellipse">
            <a:avLst/>
          </a:prstGeom>
          <a:solidFill>
            <a:srgbClr val="0E7C71"/>
          </a:solidFill>
          <a:ln/>
        </p:spPr>
      </p:sp>
      <p:sp>
        <p:nvSpPr>
          <p:cNvPr id="10" name="Shape 8"/>
          <p:cNvSpPr/>
          <p:nvPr/>
        </p:nvSpPr>
        <p:spPr>
          <a:xfrm>
            <a:off x="15211425" y="3451027"/>
            <a:ext cx="171450" cy="171450"/>
          </a:xfrm>
          <a:prstGeom prst="ellipse">
            <a:avLst/>
          </a:prstGeom>
          <a:solidFill>
            <a:srgbClr val="0E7C71"/>
          </a:solidFill>
          <a:ln/>
        </p:spPr>
      </p:sp>
      <p:sp>
        <p:nvSpPr>
          <p:cNvPr id="11" name="Shape 9"/>
          <p:cNvSpPr/>
          <p:nvPr/>
        </p:nvSpPr>
        <p:spPr>
          <a:xfrm>
            <a:off x="15468600" y="3451027"/>
            <a:ext cx="171450" cy="171450"/>
          </a:xfrm>
          <a:prstGeom prst="ellipse">
            <a:avLst/>
          </a:prstGeom>
          <a:solidFill>
            <a:srgbClr val="0E7C71"/>
          </a:solidFill>
          <a:ln/>
        </p:spPr>
      </p:sp>
      <p:sp>
        <p:nvSpPr>
          <p:cNvPr id="12" name="Shape 10"/>
          <p:cNvSpPr/>
          <p:nvPr/>
        </p:nvSpPr>
        <p:spPr>
          <a:xfrm>
            <a:off x="15725775" y="3451027"/>
            <a:ext cx="171450" cy="171450"/>
          </a:xfrm>
          <a:prstGeom prst="ellipse">
            <a:avLst/>
          </a:prstGeom>
          <a:solidFill>
            <a:srgbClr val="0E7C71"/>
          </a:solidFill>
          <a:ln/>
        </p:spPr>
      </p:sp>
      <p:sp>
        <p:nvSpPr>
          <p:cNvPr id="13" name="Text 11"/>
          <p:cNvSpPr/>
          <p:nvPr/>
        </p:nvSpPr>
        <p:spPr>
          <a:xfrm>
            <a:off x="16125825" y="3370064"/>
            <a:ext cx="781050" cy="371475"/>
          </a:xfrm>
          <a:prstGeom prst="rect">
            <a:avLst/>
          </a:prstGeom>
          <a:noFill/>
          <a:ln/>
        </p:spPr>
        <p:txBody>
          <a:bodyPr wrap="square" lIns="25400" tIns="25400" rIns="25400" bIns="25400" rtlCol="0" anchor="t">
            <a:normAutofit/>
          </a:bodyPr>
          <a:lstStyle/>
          <a:p>
            <a:pPr marL="0" indent="0" algn="r">
              <a:buNone/>
            </a:pPr>
            <a:r>
              <a:rPr lang="en-US" sz="2025" dirty="0">
                <a:solidFill>
                  <a:srgbClr val="0E7C71"/>
                </a:solidFill>
                <a:latin typeface="Courier New" pitchFamily="34" charset="0"/>
                <a:ea typeface="Courier New" pitchFamily="34" charset="-122"/>
                <a:cs typeface="Courier New" pitchFamily="34" charset="-120"/>
              </a:rPr>
              <a:t>5/5</a:t>
            </a:r>
            <a:endParaRPr lang="en-US" sz="2025" dirty="0"/>
          </a:p>
        </p:txBody>
      </p:sp>
      <p:sp>
        <p:nvSpPr>
          <p:cNvPr id="14" name="Shape 12"/>
          <p:cNvSpPr/>
          <p:nvPr/>
        </p:nvSpPr>
        <p:spPr>
          <a:xfrm>
            <a:off x="990600" y="4115395"/>
            <a:ext cx="16306800" cy="852488"/>
          </a:xfrm>
          <a:prstGeom prst="roundRect">
            <a:avLst>
              <a:gd name="adj" fmla="val 17877"/>
            </a:avLst>
          </a:prstGeom>
          <a:solidFill>
            <a:srgbClr val="FFFFFF"/>
          </a:solidFill>
          <a:ln w="9525">
            <a:solidFill>
              <a:srgbClr val="DCE4ED"/>
            </a:solidFill>
            <a:prstDash val="solid"/>
          </a:ln>
        </p:spPr>
      </p:sp>
      <p:sp>
        <p:nvSpPr>
          <p:cNvPr id="15" name="Text 13"/>
          <p:cNvSpPr/>
          <p:nvPr/>
        </p:nvSpPr>
        <p:spPr>
          <a:xfrm>
            <a:off x="1381125" y="4372570"/>
            <a:ext cx="2933700" cy="376238"/>
          </a:xfrm>
          <a:prstGeom prst="rect">
            <a:avLst/>
          </a:prstGeom>
          <a:noFill/>
          <a:ln/>
        </p:spPr>
        <p:txBody>
          <a:bodyPr wrap="square" lIns="25400" tIns="25400" rIns="25400" bIns="25400" rtlCol="0" anchor="t">
            <a:normAutofit/>
          </a:bodyPr>
          <a:lstStyle/>
          <a:p>
            <a:pPr marL="0" indent="0" algn="l">
              <a:buNone/>
            </a:pPr>
            <a:r>
              <a:rPr lang="en-US" sz="2325" b="1" dirty="0">
                <a:solidFill>
                  <a:srgbClr val="102033"/>
                </a:solidFill>
                <a:latin typeface="Arial" pitchFamily="34" charset="0"/>
                <a:ea typeface="Arial" pitchFamily="34" charset="-122"/>
                <a:cs typeface="Arial" pitchFamily="34" charset="-120"/>
              </a:rPr>
              <a:t>Changeover</a:t>
            </a:r>
            <a:endParaRPr lang="en-US" sz="2325" dirty="0"/>
          </a:p>
        </p:txBody>
      </p:sp>
      <p:sp>
        <p:nvSpPr>
          <p:cNvPr id="16" name="Text 14"/>
          <p:cNvSpPr/>
          <p:nvPr/>
        </p:nvSpPr>
        <p:spPr>
          <a:xfrm>
            <a:off x="4352925" y="4374952"/>
            <a:ext cx="11043285" cy="371475"/>
          </a:xfrm>
          <a:prstGeom prst="rect">
            <a:avLst/>
          </a:prstGeom>
          <a:noFill/>
          <a:ln/>
        </p:spPr>
        <p:txBody>
          <a:bodyPr wrap="square" lIns="25400" tIns="25400" rIns="25400" bIns="25400" rtlCol="0" anchor="t">
            <a:normAutofit/>
          </a:bodyPr>
          <a:lstStyle/>
          <a:p>
            <a:pPr marL="0" indent="0" algn="l">
              <a:buNone/>
            </a:pPr>
            <a:r>
              <a:rPr lang="en-US" sz="2025" dirty="0">
                <a:solidFill>
                  <a:srgbClr val="5F7185"/>
                </a:solidFill>
                <a:latin typeface="Arial" pitchFamily="34" charset="0"/>
                <a:ea typeface="Arial" pitchFamily="34" charset="-122"/>
                <a:cs typeface="Arial" pitchFamily="34" charset="-120"/>
              </a:rPr>
              <a:t>Remote recipes</a:t>
            </a:r>
            <a:endParaRPr lang="en-US" sz="2025" dirty="0"/>
          </a:p>
        </p:txBody>
      </p:sp>
      <p:sp>
        <p:nvSpPr>
          <p:cNvPr id="17" name="Shape 15"/>
          <p:cNvSpPr/>
          <p:nvPr/>
        </p:nvSpPr>
        <p:spPr>
          <a:xfrm>
            <a:off x="14697075" y="4455914"/>
            <a:ext cx="171450" cy="171450"/>
          </a:xfrm>
          <a:prstGeom prst="ellipse">
            <a:avLst/>
          </a:prstGeom>
          <a:solidFill>
            <a:srgbClr val="0E7C71"/>
          </a:solidFill>
          <a:ln/>
        </p:spPr>
      </p:sp>
      <p:sp>
        <p:nvSpPr>
          <p:cNvPr id="18" name="Shape 16"/>
          <p:cNvSpPr/>
          <p:nvPr/>
        </p:nvSpPr>
        <p:spPr>
          <a:xfrm>
            <a:off x="14954250" y="4455914"/>
            <a:ext cx="171450" cy="171450"/>
          </a:xfrm>
          <a:prstGeom prst="ellipse">
            <a:avLst/>
          </a:prstGeom>
          <a:solidFill>
            <a:srgbClr val="0E7C71"/>
          </a:solidFill>
          <a:ln/>
        </p:spPr>
      </p:sp>
      <p:sp>
        <p:nvSpPr>
          <p:cNvPr id="19" name="Shape 17"/>
          <p:cNvSpPr/>
          <p:nvPr/>
        </p:nvSpPr>
        <p:spPr>
          <a:xfrm>
            <a:off x="15211425" y="4455914"/>
            <a:ext cx="171450" cy="171450"/>
          </a:xfrm>
          <a:prstGeom prst="ellipse">
            <a:avLst/>
          </a:prstGeom>
          <a:solidFill>
            <a:srgbClr val="0E7C71"/>
          </a:solidFill>
          <a:ln/>
        </p:spPr>
      </p:sp>
      <p:sp>
        <p:nvSpPr>
          <p:cNvPr id="20" name="Shape 18"/>
          <p:cNvSpPr/>
          <p:nvPr/>
        </p:nvSpPr>
        <p:spPr>
          <a:xfrm>
            <a:off x="15468600" y="4455914"/>
            <a:ext cx="171450" cy="171450"/>
          </a:xfrm>
          <a:prstGeom prst="ellipse">
            <a:avLst/>
          </a:prstGeom>
          <a:solidFill>
            <a:srgbClr val="0E7C71"/>
          </a:solidFill>
          <a:ln/>
        </p:spPr>
      </p:sp>
      <p:sp>
        <p:nvSpPr>
          <p:cNvPr id="21" name="Shape 19"/>
          <p:cNvSpPr/>
          <p:nvPr/>
        </p:nvSpPr>
        <p:spPr>
          <a:xfrm>
            <a:off x="15725775" y="4455914"/>
            <a:ext cx="171450" cy="171450"/>
          </a:xfrm>
          <a:prstGeom prst="ellipse">
            <a:avLst/>
          </a:prstGeom>
          <a:solidFill>
            <a:srgbClr val="D8E1EA"/>
          </a:solidFill>
          <a:ln/>
        </p:spPr>
      </p:sp>
      <p:sp>
        <p:nvSpPr>
          <p:cNvPr id="22" name="Text 20"/>
          <p:cNvSpPr/>
          <p:nvPr/>
        </p:nvSpPr>
        <p:spPr>
          <a:xfrm>
            <a:off x="16125825" y="4374952"/>
            <a:ext cx="781050" cy="371475"/>
          </a:xfrm>
          <a:prstGeom prst="rect">
            <a:avLst/>
          </a:prstGeom>
          <a:noFill/>
          <a:ln/>
        </p:spPr>
        <p:txBody>
          <a:bodyPr wrap="square" lIns="25400" tIns="25400" rIns="25400" bIns="25400" rtlCol="0" anchor="t">
            <a:normAutofit/>
          </a:bodyPr>
          <a:lstStyle/>
          <a:p>
            <a:pPr marL="0" indent="0" algn="r">
              <a:buNone/>
            </a:pPr>
            <a:r>
              <a:rPr lang="en-US" sz="2025" dirty="0">
                <a:solidFill>
                  <a:srgbClr val="0E7C71"/>
                </a:solidFill>
                <a:latin typeface="Courier New" pitchFamily="34" charset="0"/>
                <a:ea typeface="Courier New" pitchFamily="34" charset="-122"/>
                <a:cs typeface="Courier New" pitchFamily="34" charset="-120"/>
              </a:rPr>
              <a:t>4/5</a:t>
            </a:r>
            <a:endParaRPr lang="en-US" sz="2025" dirty="0"/>
          </a:p>
        </p:txBody>
      </p:sp>
      <p:sp>
        <p:nvSpPr>
          <p:cNvPr id="23" name="Shape 21"/>
          <p:cNvSpPr/>
          <p:nvPr/>
        </p:nvSpPr>
        <p:spPr>
          <a:xfrm>
            <a:off x="990600" y="5120283"/>
            <a:ext cx="16306800" cy="852488"/>
          </a:xfrm>
          <a:prstGeom prst="roundRect">
            <a:avLst>
              <a:gd name="adj" fmla="val 17877"/>
            </a:avLst>
          </a:prstGeom>
          <a:solidFill>
            <a:srgbClr val="FFFFFF"/>
          </a:solidFill>
          <a:ln w="9525">
            <a:solidFill>
              <a:srgbClr val="DCE4ED"/>
            </a:solidFill>
            <a:prstDash val="solid"/>
          </a:ln>
        </p:spPr>
      </p:sp>
      <p:sp>
        <p:nvSpPr>
          <p:cNvPr id="24" name="Text 22"/>
          <p:cNvSpPr/>
          <p:nvPr/>
        </p:nvSpPr>
        <p:spPr>
          <a:xfrm>
            <a:off x="1381125" y="5377458"/>
            <a:ext cx="2933700" cy="376238"/>
          </a:xfrm>
          <a:prstGeom prst="rect">
            <a:avLst/>
          </a:prstGeom>
          <a:noFill/>
          <a:ln/>
        </p:spPr>
        <p:txBody>
          <a:bodyPr wrap="square" lIns="25400" tIns="25400" rIns="25400" bIns="25400" rtlCol="0" anchor="t">
            <a:normAutofit/>
          </a:bodyPr>
          <a:lstStyle/>
          <a:p>
            <a:pPr marL="0" indent="0" algn="l">
              <a:buNone/>
            </a:pPr>
            <a:r>
              <a:rPr lang="en-US" sz="2325" b="1" dirty="0">
                <a:solidFill>
                  <a:srgbClr val="102033"/>
                </a:solidFill>
                <a:latin typeface="Arial" pitchFamily="34" charset="0"/>
                <a:ea typeface="Arial" pitchFamily="34" charset="-122"/>
                <a:cs typeface="Arial" pitchFamily="34" charset="-120"/>
              </a:rPr>
              <a:t>Diagnostics</a:t>
            </a:r>
            <a:endParaRPr lang="en-US" sz="2325" dirty="0"/>
          </a:p>
        </p:txBody>
      </p:sp>
      <p:sp>
        <p:nvSpPr>
          <p:cNvPr id="25" name="Text 23"/>
          <p:cNvSpPr/>
          <p:nvPr/>
        </p:nvSpPr>
        <p:spPr>
          <a:xfrm>
            <a:off x="4352925" y="5379839"/>
            <a:ext cx="11043285" cy="371475"/>
          </a:xfrm>
          <a:prstGeom prst="rect">
            <a:avLst/>
          </a:prstGeom>
          <a:noFill/>
          <a:ln/>
        </p:spPr>
        <p:txBody>
          <a:bodyPr wrap="square" lIns="25400" tIns="25400" rIns="25400" bIns="25400" rtlCol="0" anchor="t">
            <a:normAutofit/>
          </a:bodyPr>
          <a:lstStyle/>
          <a:p>
            <a:pPr marL="0" indent="0" algn="l">
              <a:buNone/>
            </a:pPr>
            <a:r>
              <a:rPr lang="en-US" sz="2025" dirty="0">
                <a:solidFill>
                  <a:srgbClr val="5F7185"/>
                </a:solidFill>
                <a:latin typeface="Arial" pitchFamily="34" charset="0"/>
                <a:ea typeface="Arial" pitchFamily="34" charset="-122"/>
                <a:cs typeface="Arial" pitchFamily="34" charset="-120"/>
              </a:rPr>
              <a:t>Readable events</a:t>
            </a:r>
            <a:endParaRPr lang="en-US" sz="2025" dirty="0"/>
          </a:p>
        </p:txBody>
      </p:sp>
      <p:sp>
        <p:nvSpPr>
          <p:cNvPr id="26" name="Shape 24"/>
          <p:cNvSpPr/>
          <p:nvPr/>
        </p:nvSpPr>
        <p:spPr>
          <a:xfrm>
            <a:off x="14697075" y="5460802"/>
            <a:ext cx="171450" cy="171450"/>
          </a:xfrm>
          <a:prstGeom prst="ellipse">
            <a:avLst/>
          </a:prstGeom>
          <a:solidFill>
            <a:srgbClr val="0E7C71"/>
          </a:solidFill>
          <a:ln/>
        </p:spPr>
      </p:sp>
      <p:sp>
        <p:nvSpPr>
          <p:cNvPr id="27" name="Shape 25"/>
          <p:cNvSpPr/>
          <p:nvPr/>
        </p:nvSpPr>
        <p:spPr>
          <a:xfrm>
            <a:off x="14954250" y="5460802"/>
            <a:ext cx="171450" cy="171450"/>
          </a:xfrm>
          <a:prstGeom prst="ellipse">
            <a:avLst/>
          </a:prstGeom>
          <a:solidFill>
            <a:srgbClr val="0E7C71"/>
          </a:solidFill>
          <a:ln/>
        </p:spPr>
      </p:sp>
      <p:sp>
        <p:nvSpPr>
          <p:cNvPr id="28" name="Shape 26"/>
          <p:cNvSpPr/>
          <p:nvPr/>
        </p:nvSpPr>
        <p:spPr>
          <a:xfrm>
            <a:off x="15211425" y="5460802"/>
            <a:ext cx="171450" cy="171450"/>
          </a:xfrm>
          <a:prstGeom prst="ellipse">
            <a:avLst/>
          </a:prstGeom>
          <a:solidFill>
            <a:srgbClr val="0E7C71"/>
          </a:solidFill>
          <a:ln/>
        </p:spPr>
      </p:sp>
      <p:sp>
        <p:nvSpPr>
          <p:cNvPr id="29" name="Shape 27"/>
          <p:cNvSpPr/>
          <p:nvPr/>
        </p:nvSpPr>
        <p:spPr>
          <a:xfrm>
            <a:off x="15468600" y="5460802"/>
            <a:ext cx="171450" cy="171450"/>
          </a:xfrm>
          <a:prstGeom prst="ellipse">
            <a:avLst/>
          </a:prstGeom>
          <a:solidFill>
            <a:srgbClr val="0E7C71"/>
          </a:solidFill>
          <a:ln/>
        </p:spPr>
      </p:sp>
      <p:sp>
        <p:nvSpPr>
          <p:cNvPr id="30" name="Shape 28"/>
          <p:cNvSpPr/>
          <p:nvPr/>
        </p:nvSpPr>
        <p:spPr>
          <a:xfrm>
            <a:off x="15725775" y="5460802"/>
            <a:ext cx="171450" cy="171450"/>
          </a:xfrm>
          <a:prstGeom prst="ellipse">
            <a:avLst/>
          </a:prstGeom>
          <a:solidFill>
            <a:srgbClr val="0E7C71"/>
          </a:solidFill>
          <a:ln/>
        </p:spPr>
      </p:sp>
      <p:sp>
        <p:nvSpPr>
          <p:cNvPr id="31" name="Text 29"/>
          <p:cNvSpPr/>
          <p:nvPr/>
        </p:nvSpPr>
        <p:spPr>
          <a:xfrm>
            <a:off x="16125825" y="5379839"/>
            <a:ext cx="781050" cy="371475"/>
          </a:xfrm>
          <a:prstGeom prst="rect">
            <a:avLst/>
          </a:prstGeom>
          <a:noFill/>
          <a:ln/>
        </p:spPr>
        <p:txBody>
          <a:bodyPr wrap="square" lIns="25400" tIns="25400" rIns="25400" bIns="25400" rtlCol="0" anchor="t">
            <a:normAutofit/>
          </a:bodyPr>
          <a:lstStyle/>
          <a:p>
            <a:pPr marL="0" indent="0" algn="r">
              <a:buNone/>
            </a:pPr>
            <a:r>
              <a:rPr lang="en-US" sz="2025" dirty="0">
                <a:solidFill>
                  <a:srgbClr val="0E7C71"/>
                </a:solidFill>
                <a:latin typeface="Courier New" pitchFamily="34" charset="0"/>
                <a:ea typeface="Courier New" pitchFamily="34" charset="-122"/>
                <a:cs typeface="Courier New" pitchFamily="34" charset="-120"/>
              </a:rPr>
              <a:t>5/5</a:t>
            </a:r>
            <a:endParaRPr lang="en-US" sz="2025" dirty="0"/>
          </a:p>
        </p:txBody>
      </p:sp>
      <p:sp>
        <p:nvSpPr>
          <p:cNvPr id="32" name="Shape 30"/>
          <p:cNvSpPr/>
          <p:nvPr/>
        </p:nvSpPr>
        <p:spPr>
          <a:xfrm>
            <a:off x="990600" y="6125170"/>
            <a:ext cx="16306800" cy="852488"/>
          </a:xfrm>
          <a:prstGeom prst="roundRect">
            <a:avLst>
              <a:gd name="adj" fmla="val 17877"/>
            </a:avLst>
          </a:prstGeom>
          <a:solidFill>
            <a:srgbClr val="FFFFFF"/>
          </a:solidFill>
          <a:ln w="9525">
            <a:solidFill>
              <a:srgbClr val="DCE4ED"/>
            </a:solidFill>
            <a:prstDash val="solid"/>
          </a:ln>
        </p:spPr>
      </p:sp>
      <p:sp>
        <p:nvSpPr>
          <p:cNvPr id="33" name="Text 31"/>
          <p:cNvSpPr/>
          <p:nvPr/>
        </p:nvSpPr>
        <p:spPr>
          <a:xfrm>
            <a:off x="1381125" y="6382345"/>
            <a:ext cx="2933700" cy="376238"/>
          </a:xfrm>
          <a:prstGeom prst="rect">
            <a:avLst/>
          </a:prstGeom>
          <a:noFill/>
          <a:ln/>
        </p:spPr>
        <p:txBody>
          <a:bodyPr wrap="square" lIns="25400" tIns="25400" rIns="25400" bIns="25400" rtlCol="0" anchor="t">
            <a:normAutofit/>
          </a:bodyPr>
          <a:lstStyle/>
          <a:p>
            <a:pPr marL="0" indent="0" algn="l">
              <a:buNone/>
            </a:pPr>
            <a:r>
              <a:rPr lang="en-US" sz="2325" b="1" dirty="0">
                <a:solidFill>
                  <a:srgbClr val="102033"/>
                </a:solidFill>
                <a:latin typeface="Arial" pitchFamily="34" charset="0"/>
                <a:ea typeface="Arial" pitchFamily="34" charset="-122"/>
                <a:cs typeface="Arial" pitchFamily="34" charset="-120"/>
              </a:rPr>
              <a:t>Replacement</a:t>
            </a:r>
            <a:endParaRPr lang="en-US" sz="2325" dirty="0"/>
          </a:p>
        </p:txBody>
      </p:sp>
      <p:sp>
        <p:nvSpPr>
          <p:cNvPr id="34" name="Text 32"/>
          <p:cNvSpPr/>
          <p:nvPr/>
        </p:nvSpPr>
        <p:spPr>
          <a:xfrm>
            <a:off x="4352925" y="6384727"/>
            <a:ext cx="11043285" cy="371475"/>
          </a:xfrm>
          <a:prstGeom prst="rect">
            <a:avLst/>
          </a:prstGeom>
          <a:noFill/>
          <a:ln/>
        </p:spPr>
        <p:txBody>
          <a:bodyPr wrap="square" lIns="25400" tIns="25400" rIns="25400" bIns="25400" rtlCol="0" anchor="t">
            <a:normAutofit/>
          </a:bodyPr>
          <a:lstStyle/>
          <a:p>
            <a:pPr marL="0" indent="0" algn="l">
              <a:buNone/>
            </a:pPr>
            <a:r>
              <a:rPr lang="en-US" sz="2025" dirty="0">
                <a:solidFill>
                  <a:srgbClr val="5F7185"/>
                </a:solidFill>
                <a:latin typeface="Arial" pitchFamily="34" charset="0"/>
                <a:ea typeface="Arial" pitchFamily="34" charset="-122"/>
                <a:cs typeface="Arial" pitchFamily="34" charset="-120"/>
              </a:rPr>
              <a:t>Parameter restore</a:t>
            </a:r>
            <a:endParaRPr lang="en-US" sz="2025" dirty="0"/>
          </a:p>
        </p:txBody>
      </p:sp>
      <p:sp>
        <p:nvSpPr>
          <p:cNvPr id="35" name="Shape 33"/>
          <p:cNvSpPr/>
          <p:nvPr/>
        </p:nvSpPr>
        <p:spPr>
          <a:xfrm>
            <a:off x="14697075" y="6465689"/>
            <a:ext cx="171450" cy="171450"/>
          </a:xfrm>
          <a:prstGeom prst="ellipse">
            <a:avLst/>
          </a:prstGeom>
          <a:solidFill>
            <a:srgbClr val="0E7C71"/>
          </a:solidFill>
          <a:ln/>
        </p:spPr>
      </p:sp>
      <p:sp>
        <p:nvSpPr>
          <p:cNvPr id="36" name="Shape 34"/>
          <p:cNvSpPr/>
          <p:nvPr/>
        </p:nvSpPr>
        <p:spPr>
          <a:xfrm>
            <a:off x="14954250" y="6465689"/>
            <a:ext cx="171450" cy="171450"/>
          </a:xfrm>
          <a:prstGeom prst="ellipse">
            <a:avLst/>
          </a:prstGeom>
          <a:solidFill>
            <a:srgbClr val="0E7C71"/>
          </a:solidFill>
          <a:ln/>
        </p:spPr>
      </p:sp>
      <p:sp>
        <p:nvSpPr>
          <p:cNvPr id="37" name="Shape 35"/>
          <p:cNvSpPr/>
          <p:nvPr/>
        </p:nvSpPr>
        <p:spPr>
          <a:xfrm>
            <a:off x="15211425" y="6465689"/>
            <a:ext cx="171450" cy="171450"/>
          </a:xfrm>
          <a:prstGeom prst="ellipse">
            <a:avLst/>
          </a:prstGeom>
          <a:solidFill>
            <a:srgbClr val="0E7C71"/>
          </a:solidFill>
          <a:ln/>
        </p:spPr>
      </p:sp>
      <p:sp>
        <p:nvSpPr>
          <p:cNvPr id="38" name="Shape 36"/>
          <p:cNvSpPr/>
          <p:nvPr/>
        </p:nvSpPr>
        <p:spPr>
          <a:xfrm>
            <a:off x="15468600" y="6465689"/>
            <a:ext cx="171450" cy="171450"/>
          </a:xfrm>
          <a:prstGeom prst="ellipse">
            <a:avLst/>
          </a:prstGeom>
          <a:solidFill>
            <a:srgbClr val="0E7C71"/>
          </a:solidFill>
          <a:ln/>
        </p:spPr>
      </p:sp>
      <p:sp>
        <p:nvSpPr>
          <p:cNvPr id="39" name="Shape 37"/>
          <p:cNvSpPr/>
          <p:nvPr/>
        </p:nvSpPr>
        <p:spPr>
          <a:xfrm>
            <a:off x="15725775" y="6465689"/>
            <a:ext cx="171450" cy="171450"/>
          </a:xfrm>
          <a:prstGeom prst="ellipse">
            <a:avLst/>
          </a:prstGeom>
          <a:solidFill>
            <a:srgbClr val="D8E1EA"/>
          </a:solidFill>
          <a:ln/>
        </p:spPr>
      </p:sp>
      <p:sp>
        <p:nvSpPr>
          <p:cNvPr id="40" name="Text 38"/>
          <p:cNvSpPr/>
          <p:nvPr/>
        </p:nvSpPr>
        <p:spPr>
          <a:xfrm>
            <a:off x="16125825" y="6384727"/>
            <a:ext cx="781050" cy="371475"/>
          </a:xfrm>
          <a:prstGeom prst="rect">
            <a:avLst/>
          </a:prstGeom>
          <a:noFill/>
          <a:ln/>
        </p:spPr>
        <p:txBody>
          <a:bodyPr wrap="square" lIns="25400" tIns="25400" rIns="25400" bIns="25400" rtlCol="0" anchor="t">
            <a:normAutofit/>
          </a:bodyPr>
          <a:lstStyle/>
          <a:p>
            <a:pPr marL="0" indent="0" algn="r">
              <a:buNone/>
            </a:pPr>
            <a:r>
              <a:rPr lang="en-US" sz="2025" dirty="0">
                <a:solidFill>
                  <a:srgbClr val="0E7C71"/>
                </a:solidFill>
                <a:latin typeface="Courier New" pitchFamily="34" charset="0"/>
                <a:ea typeface="Courier New" pitchFamily="34" charset="-122"/>
                <a:cs typeface="Courier New" pitchFamily="34" charset="-120"/>
              </a:rPr>
              <a:t>4/5</a:t>
            </a:r>
            <a:endParaRPr lang="en-US" sz="2025" dirty="0"/>
          </a:p>
        </p:txBody>
      </p:sp>
      <p:sp>
        <p:nvSpPr>
          <p:cNvPr id="41" name="Shape 39"/>
          <p:cNvSpPr/>
          <p:nvPr/>
        </p:nvSpPr>
        <p:spPr>
          <a:xfrm>
            <a:off x="990600" y="7130058"/>
            <a:ext cx="16306800" cy="852488"/>
          </a:xfrm>
          <a:prstGeom prst="roundRect">
            <a:avLst>
              <a:gd name="adj" fmla="val 17877"/>
            </a:avLst>
          </a:prstGeom>
          <a:solidFill>
            <a:srgbClr val="FCF3E2"/>
          </a:solidFill>
          <a:ln w="9525">
            <a:solidFill>
              <a:srgbClr val="F0D9A8"/>
            </a:solidFill>
            <a:prstDash val="solid"/>
          </a:ln>
        </p:spPr>
      </p:sp>
      <p:sp>
        <p:nvSpPr>
          <p:cNvPr id="42" name="Text 40"/>
          <p:cNvSpPr/>
          <p:nvPr/>
        </p:nvSpPr>
        <p:spPr>
          <a:xfrm>
            <a:off x="1381125" y="7387233"/>
            <a:ext cx="2933700" cy="376238"/>
          </a:xfrm>
          <a:prstGeom prst="rect">
            <a:avLst/>
          </a:prstGeom>
          <a:noFill/>
          <a:ln/>
        </p:spPr>
        <p:txBody>
          <a:bodyPr wrap="square" lIns="25400" tIns="25400" rIns="25400" bIns="25400" rtlCol="0" anchor="t">
            <a:normAutofit/>
          </a:bodyPr>
          <a:lstStyle/>
          <a:p>
            <a:pPr marL="0" indent="0" algn="l">
              <a:buNone/>
            </a:pPr>
            <a:r>
              <a:rPr lang="en-US" sz="2325" b="1" dirty="0">
                <a:solidFill>
                  <a:srgbClr val="8A5A12"/>
                </a:solidFill>
                <a:latin typeface="Arial" pitchFamily="34" charset="0"/>
                <a:ea typeface="Arial" pitchFamily="34" charset="-122"/>
                <a:cs typeface="Arial" pitchFamily="34" charset="-120"/>
              </a:rPr>
              <a:t>Port budget</a:t>
            </a:r>
            <a:endParaRPr lang="en-US" sz="2325" dirty="0"/>
          </a:p>
        </p:txBody>
      </p:sp>
      <p:sp>
        <p:nvSpPr>
          <p:cNvPr id="43" name="Text 41"/>
          <p:cNvSpPr/>
          <p:nvPr/>
        </p:nvSpPr>
        <p:spPr>
          <a:xfrm>
            <a:off x="4352925" y="7389614"/>
            <a:ext cx="11043285" cy="371475"/>
          </a:xfrm>
          <a:prstGeom prst="rect">
            <a:avLst/>
          </a:prstGeom>
          <a:noFill/>
          <a:ln/>
        </p:spPr>
        <p:txBody>
          <a:bodyPr wrap="square" lIns="25400" tIns="25400" rIns="25400" bIns="25400" rtlCol="0" anchor="t">
            <a:normAutofit/>
          </a:bodyPr>
          <a:lstStyle/>
          <a:p>
            <a:pPr marL="0" indent="0" algn="l">
              <a:buNone/>
            </a:pPr>
            <a:r>
              <a:rPr lang="en-US" sz="2025" dirty="0">
                <a:solidFill>
                  <a:srgbClr val="A0721F"/>
                </a:solidFill>
                <a:latin typeface="Arial" pitchFamily="34" charset="0"/>
                <a:ea typeface="Arial" pitchFamily="34" charset="-122"/>
                <a:cs typeface="Arial" pitchFamily="34" charset="-120"/>
              </a:rPr>
              <a:t>One port per device</a:t>
            </a:r>
            <a:endParaRPr lang="en-US" sz="2025" dirty="0"/>
          </a:p>
        </p:txBody>
      </p:sp>
      <p:sp>
        <p:nvSpPr>
          <p:cNvPr id="44" name="Shape 42"/>
          <p:cNvSpPr/>
          <p:nvPr/>
        </p:nvSpPr>
        <p:spPr>
          <a:xfrm>
            <a:off x="14697075" y="7470577"/>
            <a:ext cx="171450" cy="171450"/>
          </a:xfrm>
          <a:prstGeom prst="ellipse">
            <a:avLst/>
          </a:prstGeom>
          <a:solidFill>
            <a:srgbClr val="C8821B"/>
          </a:solidFill>
          <a:ln/>
        </p:spPr>
      </p:sp>
      <p:sp>
        <p:nvSpPr>
          <p:cNvPr id="45" name="Shape 43"/>
          <p:cNvSpPr/>
          <p:nvPr/>
        </p:nvSpPr>
        <p:spPr>
          <a:xfrm>
            <a:off x="14954250" y="7470577"/>
            <a:ext cx="171450" cy="171450"/>
          </a:xfrm>
          <a:prstGeom prst="ellipse">
            <a:avLst/>
          </a:prstGeom>
          <a:solidFill>
            <a:srgbClr val="C8821B"/>
          </a:solidFill>
          <a:ln/>
        </p:spPr>
      </p:sp>
      <p:sp>
        <p:nvSpPr>
          <p:cNvPr id="46" name="Shape 44"/>
          <p:cNvSpPr/>
          <p:nvPr/>
        </p:nvSpPr>
        <p:spPr>
          <a:xfrm>
            <a:off x="15211425" y="7470577"/>
            <a:ext cx="171450" cy="171450"/>
          </a:xfrm>
          <a:prstGeom prst="ellipse">
            <a:avLst/>
          </a:prstGeom>
          <a:solidFill>
            <a:srgbClr val="EAD3A0"/>
          </a:solidFill>
          <a:ln/>
        </p:spPr>
      </p:sp>
      <p:sp>
        <p:nvSpPr>
          <p:cNvPr id="47" name="Shape 45"/>
          <p:cNvSpPr/>
          <p:nvPr/>
        </p:nvSpPr>
        <p:spPr>
          <a:xfrm>
            <a:off x="15468600" y="7470577"/>
            <a:ext cx="171450" cy="171450"/>
          </a:xfrm>
          <a:prstGeom prst="ellipse">
            <a:avLst/>
          </a:prstGeom>
          <a:solidFill>
            <a:srgbClr val="EAD3A0"/>
          </a:solidFill>
          <a:ln/>
        </p:spPr>
      </p:sp>
      <p:sp>
        <p:nvSpPr>
          <p:cNvPr id="48" name="Shape 46"/>
          <p:cNvSpPr/>
          <p:nvPr/>
        </p:nvSpPr>
        <p:spPr>
          <a:xfrm>
            <a:off x="15725775" y="7470577"/>
            <a:ext cx="171450" cy="171450"/>
          </a:xfrm>
          <a:prstGeom prst="ellipse">
            <a:avLst/>
          </a:prstGeom>
          <a:solidFill>
            <a:srgbClr val="EAD3A0"/>
          </a:solidFill>
          <a:ln/>
        </p:spPr>
      </p:sp>
      <p:sp>
        <p:nvSpPr>
          <p:cNvPr id="49" name="Text 47"/>
          <p:cNvSpPr/>
          <p:nvPr/>
        </p:nvSpPr>
        <p:spPr>
          <a:xfrm>
            <a:off x="16125825" y="7389614"/>
            <a:ext cx="781050" cy="371475"/>
          </a:xfrm>
          <a:prstGeom prst="rect">
            <a:avLst/>
          </a:prstGeom>
          <a:noFill/>
          <a:ln/>
        </p:spPr>
        <p:txBody>
          <a:bodyPr wrap="square" lIns="25400" tIns="25400" rIns="25400" bIns="25400" rtlCol="0" anchor="t">
            <a:normAutofit/>
          </a:bodyPr>
          <a:lstStyle/>
          <a:p>
            <a:pPr marL="0" indent="0" algn="r">
              <a:buNone/>
            </a:pPr>
            <a:r>
              <a:rPr lang="en-US" sz="2025" dirty="0">
                <a:solidFill>
                  <a:srgbClr val="C8821B"/>
                </a:solidFill>
                <a:latin typeface="Courier New" pitchFamily="34" charset="0"/>
                <a:ea typeface="Courier New" pitchFamily="34" charset="-122"/>
                <a:cs typeface="Courier New" pitchFamily="34" charset="-120"/>
              </a:rPr>
              <a:t>2/5</a:t>
            </a:r>
            <a:endParaRPr lang="en-US" sz="2025" dirty="0"/>
          </a:p>
        </p:txBody>
      </p:sp>
      <p:sp>
        <p:nvSpPr>
          <p:cNvPr id="50" name="Shape 48"/>
          <p:cNvSpPr/>
          <p:nvPr/>
        </p:nvSpPr>
        <p:spPr>
          <a:xfrm>
            <a:off x="990600" y="9239250"/>
            <a:ext cx="16306800" cy="9525"/>
          </a:xfrm>
          <a:prstGeom prst="rect">
            <a:avLst/>
          </a:prstGeom>
          <a:solidFill>
            <a:srgbClr val="DCE4ED"/>
          </a:solidFill>
          <a:ln/>
        </p:spPr>
      </p:sp>
      <p:sp>
        <p:nvSpPr>
          <p:cNvPr id="51" name="Text 49"/>
          <p:cNvSpPr/>
          <p:nvPr/>
        </p:nvSpPr>
        <p:spPr>
          <a:xfrm>
            <a:off x="990600" y="9420225"/>
            <a:ext cx="11456164"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No measured latency claimed; timing is estimated from chain components.</a:t>
            </a:r>
            <a:endParaRPr lang="en-US" sz="1800" dirty="0"/>
          </a:p>
        </p:txBody>
      </p:sp>
      <p:sp>
        <p:nvSpPr>
          <p:cNvPr id="52" name="Text 50"/>
          <p:cNvSpPr/>
          <p:nvPr/>
        </p:nvSpPr>
        <p:spPr>
          <a:xfrm>
            <a:off x="16270560" y="9420225"/>
            <a:ext cx="1103040"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09 / 12</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marL="0" indent="0" algn="l">
              <a:buNone/>
            </a:pPr>
            <a:r>
              <a:rPr lang="en-US" sz="1800" kern="0" spc="263" dirty="0">
                <a:solidFill>
                  <a:srgbClr val="0E7C71"/>
                </a:solidFill>
                <a:latin typeface="Courier New" pitchFamily="34" charset="0"/>
                <a:ea typeface="Courier New" pitchFamily="34" charset="-122"/>
                <a:cs typeface="Courier New" pitchFamily="34" charset="-120"/>
              </a:rPr>
              <a:t>PERFORMANCE</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marL="0" indent="0" algn="l">
              <a:lnSpc>
                <a:spcPct val="107000"/>
              </a:lnSpc>
              <a:buNone/>
            </a:pPr>
            <a:r>
              <a:rPr lang="en-US" sz="3900" b="1" kern="0" spc="-37" dirty="0">
                <a:solidFill>
                  <a:srgbClr val="102033"/>
                </a:solidFill>
                <a:latin typeface="Arial" pitchFamily="34" charset="0"/>
                <a:ea typeface="Arial" pitchFamily="34" charset="-122"/>
                <a:cs typeface="Arial" pitchFamily="34" charset="-120"/>
              </a:rPr>
              <a:t>Timing depends on the whole automation chain</a:t>
            </a:r>
            <a:endParaRPr lang="en-US" sz="3900" dirty="0"/>
          </a:p>
        </p:txBody>
      </p:sp>
      <p:sp>
        <p:nvSpPr>
          <p:cNvPr id="5" name="Text 3"/>
          <p:cNvSpPr/>
          <p:nvPr/>
        </p:nvSpPr>
        <p:spPr>
          <a:xfrm>
            <a:off x="990600" y="2149153"/>
            <a:ext cx="847725" cy="371475"/>
          </a:xfrm>
          <a:prstGeom prst="rect">
            <a:avLst/>
          </a:prstGeom>
          <a:noFill/>
          <a:ln/>
        </p:spPr>
        <p:txBody>
          <a:bodyPr wrap="square" lIns="25400" tIns="25400" rIns="25400" bIns="25400" rtlCol="0" anchor="t">
            <a:normAutofit/>
          </a:bodyPr>
          <a:lstStyle/>
          <a:p>
            <a:pPr marL="0" indent="0" algn="l">
              <a:buNone/>
            </a:pPr>
            <a:r>
              <a:rPr lang="en-US" sz="2025" dirty="0">
                <a:solidFill>
                  <a:srgbClr val="102033"/>
                </a:solidFill>
                <a:latin typeface="Courier New" pitchFamily="34" charset="0"/>
                <a:ea typeface="Courier New" pitchFamily="34" charset="-122"/>
                <a:cs typeface="Courier New" pitchFamily="34" charset="-120"/>
              </a:rPr>
              <a:t>Delay</a:t>
            </a:r>
            <a:endParaRPr lang="en-US" sz="2025" dirty="0"/>
          </a:p>
        </p:txBody>
      </p:sp>
      <p:sp>
        <p:nvSpPr>
          <p:cNvPr id="6" name="Text 4"/>
          <p:cNvSpPr/>
          <p:nvPr/>
        </p:nvSpPr>
        <p:spPr>
          <a:xfrm>
            <a:off x="1895475" y="2149153"/>
            <a:ext cx="230535" cy="371475"/>
          </a:xfrm>
          <a:prstGeom prst="rect">
            <a:avLst/>
          </a:prstGeom>
          <a:noFill/>
          <a:ln/>
        </p:spPr>
        <p:txBody>
          <a:bodyPr wrap="square" lIns="25400" tIns="25400" rIns="25400" bIns="25400" rtlCol="0" anchor="t">
            <a:normAutofit/>
          </a:bodyPr>
          <a:lstStyle/>
          <a:p>
            <a:pPr marL="0" indent="0" algn="l">
              <a:buNone/>
            </a:pPr>
            <a:r>
              <a:rPr lang="en-US" sz="2025" dirty="0">
                <a:solidFill>
                  <a:srgbClr val="9AA8B6"/>
                </a:solidFill>
                <a:latin typeface="Courier New" pitchFamily="34" charset="0"/>
                <a:ea typeface="Courier New" pitchFamily="34" charset="-122"/>
                <a:cs typeface="Courier New" pitchFamily="34" charset="-120"/>
              </a:rPr>
              <a:t>=</a:t>
            </a:r>
            <a:endParaRPr lang="en-US" sz="2025" dirty="0"/>
          </a:p>
        </p:txBody>
      </p:sp>
      <p:sp>
        <p:nvSpPr>
          <p:cNvPr id="7" name="Shape 5"/>
          <p:cNvSpPr/>
          <p:nvPr/>
        </p:nvSpPr>
        <p:spPr>
          <a:xfrm>
            <a:off x="2183160" y="2044378"/>
            <a:ext cx="2213670" cy="542925"/>
          </a:xfrm>
          <a:prstGeom prst="roundRect">
            <a:avLst>
              <a:gd name="adj" fmla="val 17544"/>
            </a:avLst>
          </a:prstGeom>
          <a:solidFill>
            <a:srgbClr val="FFFFFF"/>
          </a:solidFill>
          <a:ln w="9525">
            <a:solidFill>
              <a:srgbClr val="DCE4ED"/>
            </a:solidFill>
            <a:prstDash val="solid"/>
          </a:ln>
        </p:spPr>
      </p:sp>
      <p:sp>
        <p:nvSpPr>
          <p:cNvPr id="8" name="Text 6"/>
          <p:cNvSpPr/>
          <p:nvPr/>
        </p:nvSpPr>
        <p:spPr>
          <a:xfrm>
            <a:off x="2364135" y="2149153"/>
            <a:ext cx="1927920" cy="371475"/>
          </a:xfrm>
          <a:prstGeom prst="rect">
            <a:avLst/>
          </a:prstGeom>
          <a:noFill/>
          <a:ln/>
        </p:spPr>
        <p:txBody>
          <a:bodyPr wrap="square" lIns="25400" tIns="25400" rIns="25400" bIns="25400" rtlCol="0" anchor="t">
            <a:normAutofit/>
          </a:bodyPr>
          <a:lstStyle/>
          <a:p>
            <a:pPr marL="0" indent="0" algn="l">
              <a:buNone/>
            </a:pPr>
            <a:r>
              <a:rPr lang="en-US" sz="2025" dirty="0">
                <a:solidFill>
                  <a:srgbClr val="102033"/>
                </a:solidFill>
                <a:latin typeface="Courier New" pitchFamily="34" charset="0"/>
                <a:ea typeface="Courier New" pitchFamily="34" charset="-122"/>
                <a:cs typeface="Courier New" pitchFamily="34" charset="-120"/>
              </a:rPr>
              <a:t>device cycle</a:t>
            </a:r>
            <a:endParaRPr lang="en-US" sz="2025" dirty="0"/>
          </a:p>
        </p:txBody>
      </p:sp>
      <p:sp>
        <p:nvSpPr>
          <p:cNvPr id="9" name="Text 7"/>
          <p:cNvSpPr/>
          <p:nvPr/>
        </p:nvSpPr>
        <p:spPr>
          <a:xfrm>
            <a:off x="4530179" y="2149153"/>
            <a:ext cx="230535" cy="371475"/>
          </a:xfrm>
          <a:prstGeom prst="rect">
            <a:avLst/>
          </a:prstGeom>
          <a:noFill/>
          <a:ln/>
        </p:spPr>
        <p:txBody>
          <a:bodyPr wrap="square" lIns="25400" tIns="25400" rIns="25400" bIns="25400" rtlCol="0" anchor="t">
            <a:normAutofit/>
          </a:bodyPr>
          <a:lstStyle/>
          <a:p>
            <a:pPr marL="0" indent="0" algn="l">
              <a:buNone/>
            </a:pPr>
            <a:r>
              <a:rPr lang="en-US" sz="2025" dirty="0">
                <a:solidFill>
                  <a:srgbClr val="9AA8B6"/>
                </a:solidFill>
                <a:latin typeface="Courier New" pitchFamily="34" charset="0"/>
                <a:ea typeface="Courier New" pitchFamily="34" charset="-122"/>
                <a:cs typeface="Courier New" pitchFamily="34" charset="-120"/>
              </a:rPr>
              <a:t>+</a:t>
            </a:r>
            <a:endParaRPr lang="en-US" sz="2025" dirty="0"/>
          </a:p>
        </p:txBody>
      </p:sp>
      <p:sp>
        <p:nvSpPr>
          <p:cNvPr id="10" name="Shape 8"/>
          <p:cNvSpPr/>
          <p:nvPr/>
        </p:nvSpPr>
        <p:spPr>
          <a:xfrm>
            <a:off x="4817864" y="2044378"/>
            <a:ext cx="2985195" cy="542925"/>
          </a:xfrm>
          <a:prstGeom prst="roundRect">
            <a:avLst>
              <a:gd name="adj" fmla="val 17544"/>
            </a:avLst>
          </a:prstGeom>
          <a:solidFill>
            <a:srgbClr val="FFFFFF"/>
          </a:solidFill>
          <a:ln w="9525">
            <a:solidFill>
              <a:srgbClr val="DCE4ED"/>
            </a:solidFill>
            <a:prstDash val="solid"/>
          </a:ln>
        </p:spPr>
      </p:sp>
      <p:sp>
        <p:nvSpPr>
          <p:cNvPr id="11" name="Text 9"/>
          <p:cNvSpPr/>
          <p:nvPr/>
        </p:nvSpPr>
        <p:spPr>
          <a:xfrm>
            <a:off x="4998839" y="2149153"/>
            <a:ext cx="2712800" cy="371475"/>
          </a:xfrm>
          <a:prstGeom prst="rect">
            <a:avLst/>
          </a:prstGeom>
          <a:noFill/>
          <a:ln/>
        </p:spPr>
        <p:txBody>
          <a:bodyPr wrap="square" lIns="25400" tIns="25400" rIns="25400" bIns="25400" rtlCol="0" anchor="t">
            <a:normAutofit/>
          </a:bodyPr>
          <a:lstStyle/>
          <a:p>
            <a:pPr marL="0" indent="0" algn="l">
              <a:buNone/>
            </a:pPr>
            <a:r>
              <a:rPr lang="en-US" sz="2025" dirty="0">
                <a:solidFill>
                  <a:srgbClr val="102033"/>
                </a:solidFill>
                <a:latin typeface="Courier New" pitchFamily="34" charset="0"/>
                <a:ea typeface="Courier New" pitchFamily="34" charset="-122"/>
                <a:cs typeface="Courier New" pitchFamily="34" charset="-120"/>
              </a:rPr>
              <a:t>master processing</a:t>
            </a:r>
            <a:endParaRPr lang="en-US" sz="2025" dirty="0"/>
          </a:p>
        </p:txBody>
      </p:sp>
      <p:sp>
        <p:nvSpPr>
          <p:cNvPr id="12" name="Text 10"/>
          <p:cNvSpPr/>
          <p:nvPr/>
        </p:nvSpPr>
        <p:spPr>
          <a:xfrm>
            <a:off x="7936409" y="2149153"/>
            <a:ext cx="230535" cy="371475"/>
          </a:xfrm>
          <a:prstGeom prst="rect">
            <a:avLst/>
          </a:prstGeom>
          <a:noFill/>
          <a:ln/>
        </p:spPr>
        <p:txBody>
          <a:bodyPr wrap="square" lIns="25400" tIns="25400" rIns="25400" bIns="25400" rtlCol="0" anchor="t">
            <a:normAutofit/>
          </a:bodyPr>
          <a:lstStyle/>
          <a:p>
            <a:pPr marL="0" indent="0" algn="l">
              <a:buNone/>
            </a:pPr>
            <a:r>
              <a:rPr lang="en-US" sz="2025" dirty="0">
                <a:solidFill>
                  <a:srgbClr val="9AA8B6"/>
                </a:solidFill>
                <a:latin typeface="Courier New" pitchFamily="34" charset="0"/>
                <a:ea typeface="Courier New" pitchFamily="34" charset="-122"/>
                <a:cs typeface="Courier New" pitchFamily="34" charset="-120"/>
              </a:rPr>
              <a:t>+</a:t>
            </a:r>
            <a:endParaRPr lang="en-US" sz="2025" dirty="0"/>
          </a:p>
        </p:txBody>
      </p:sp>
      <p:sp>
        <p:nvSpPr>
          <p:cNvPr id="13" name="Shape 11"/>
          <p:cNvSpPr/>
          <p:nvPr/>
        </p:nvSpPr>
        <p:spPr>
          <a:xfrm>
            <a:off x="8224093" y="2044378"/>
            <a:ext cx="2676525" cy="542925"/>
          </a:xfrm>
          <a:prstGeom prst="roundRect">
            <a:avLst>
              <a:gd name="adj" fmla="val 17544"/>
            </a:avLst>
          </a:prstGeom>
          <a:solidFill>
            <a:srgbClr val="FFFFFF"/>
          </a:solidFill>
          <a:ln w="9525">
            <a:solidFill>
              <a:srgbClr val="DCE4ED"/>
            </a:solidFill>
            <a:prstDash val="solid"/>
          </a:ln>
        </p:spPr>
      </p:sp>
      <p:sp>
        <p:nvSpPr>
          <p:cNvPr id="14" name="Text 12"/>
          <p:cNvSpPr/>
          <p:nvPr/>
        </p:nvSpPr>
        <p:spPr>
          <a:xfrm>
            <a:off x="8405068" y="2149153"/>
            <a:ext cx="2394871" cy="371475"/>
          </a:xfrm>
          <a:prstGeom prst="rect">
            <a:avLst/>
          </a:prstGeom>
          <a:noFill/>
          <a:ln/>
        </p:spPr>
        <p:txBody>
          <a:bodyPr wrap="square" lIns="25400" tIns="25400" rIns="25400" bIns="25400" rtlCol="0" anchor="t">
            <a:normAutofit/>
          </a:bodyPr>
          <a:lstStyle/>
          <a:p>
            <a:pPr marL="0" indent="0" algn="l">
              <a:buNone/>
            </a:pPr>
            <a:r>
              <a:rPr lang="en-US" sz="2025" dirty="0">
                <a:solidFill>
                  <a:srgbClr val="102033"/>
                </a:solidFill>
                <a:latin typeface="Courier New" pitchFamily="34" charset="0"/>
                <a:ea typeface="Courier New" pitchFamily="34" charset="-122"/>
                <a:cs typeface="Courier New" pitchFamily="34" charset="-120"/>
              </a:rPr>
              <a:t>fieldbus update</a:t>
            </a:r>
            <a:endParaRPr lang="en-US" sz="2025" dirty="0"/>
          </a:p>
        </p:txBody>
      </p:sp>
      <p:sp>
        <p:nvSpPr>
          <p:cNvPr id="15" name="Text 13"/>
          <p:cNvSpPr/>
          <p:nvPr/>
        </p:nvSpPr>
        <p:spPr>
          <a:xfrm>
            <a:off x="11033968" y="2149153"/>
            <a:ext cx="230535" cy="371475"/>
          </a:xfrm>
          <a:prstGeom prst="rect">
            <a:avLst/>
          </a:prstGeom>
          <a:noFill/>
          <a:ln/>
        </p:spPr>
        <p:txBody>
          <a:bodyPr wrap="square" lIns="25400" tIns="25400" rIns="25400" bIns="25400" rtlCol="0" anchor="t">
            <a:normAutofit/>
          </a:bodyPr>
          <a:lstStyle/>
          <a:p>
            <a:pPr marL="0" indent="0" algn="l">
              <a:buNone/>
            </a:pPr>
            <a:r>
              <a:rPr lang="en-US" sz="2025" dirty="0">
                <a:solidFill>
                  <a:srgbClr val="9AA8B6"/>
                </a:solidFill>
                <a:latin typeface="Courier New" pitchFamily="34" charset="0"/>
                <a:ea typeface="Courier New" pitchFamily="34" charset="-122"/>
                <a:cs typeface="Courier New" pitchFamily="34" charset="-120"/>
              </a:rPr>
              <a:t>+</a:t>
            </a:r>
            <a:endParaRPr lang="en-US" sz="2025" dirty="0"/>
          </a:p>
        </p:txBody>
      </p:sp>
      <p:sp>
        <p:nvSpPr>
          <p:cNvPr id="16" name="Shape 14"/>
          <p:cNvSpPr/>
          <p:nvPr/>
        </p:nvSpPr>
        <p:spPr>
          <a:xfrm>
            <a:off x="11321653" y="2044378"/>
            <a:ext cx="1596405" cy="542925"/>
          </a:xfrm>
          <a:prstGeom prst="roundRect">
            <a:avLst>
              <a:gd name="adj" fmla="val 17544"/>
            </a:avLst>
          </a:prstGeom>
          <a:solidFill>
            <a:srgbClr val="FFFFFF"/>
          </a:solidFill>
          <a:ln w="9525">
            <a:solidFill>
              <a:srgbClr val="DCE4ED"/>
            </a:solidFill>
            <a:prstDash val="solid"/>
          </a:ln>
        </p:spPr>
      </p:sp>
      <p:sp>
        <p:nvSpPr>
          <p:cNvPr id="17" name="Text 15"/>
          <p:cNvSpPr/>
          <p:nvPr/>
        </p:nvSpPr>
        <p:spPr>
          <a:xfrm>
            <a:off x="11502628" y="2149153"/>
            <a:ext cx="1310655" cy="371475"/>
          </a:xfrm>
          <a:prstGeom prst="rect">
            <a:avLst/>
          </a:prstGeom>
          <a:noFill/>
          <a:ln/>
        </p:spPr>
        <p:txBody>
          <a:bodyPr wrap="square" lIns="25400" tIns="25400" rIns="25400" bIns="25400" rtlCol="0" anchor="t">
            <a:normAutofit/>
          </a:bodyPr>
          <a:lstStyle/>
          <a:p>
            <a:pPr marL="0" indent="0" algn="l">
              <a:buNone/>
            </a:pPr>
            <a:r>
              <a:rPr lang="en-US" sz="2025" dirty="0">
                <a:solidFill>
                  <a:srgbClr val="102033"/>
                </a:solidFill>
                <a:latin typeface="Courier New" pitchFamily="34" charset="0"/>
                <a:ea typeface="Courier New" pitchFamily="34" charset="-122"/>
                <a:cs typeface="Courier New" pitchFamily="34" charset="-120"/>
              </a:rPr>
              <a:t>PLC scan</a:t>
            </a:r>
            <a:endParaRPr lang="en-US" sz="2025" dirty="0"/>
          </a:p>
        </p:txBody>
      </p:sp>
      <p:sp>
        <p:nvSpPr>
          <p:cNvPr id="18" name="Shape 16"/>
          <p:cNvSpPr/>
          <p:nvPr/>
        </p:nvSpPr>
        <p:spPr>
          <a:xfrm>
            <a:off x="990600" y="2854003"/>
            <a:ext cx="9372600" cy="6061397"/>
          </a:xfrm>
          <a:prstGeom prst="roundRect">
            <a:avLst>
              <a:gd name="adj" fmla="val 3457"/>
            </a:avLst>
          </a:prstGeom>
          <a:solidFill>
            <a:srgbClr val="FFFFFF"/>
          </a:solidFill>
          <a:ln w="9525">
            <a:solidFill>
              <a:srgbClr val="DCE4ED"/>
            </a:solidFill>
            <a:prstDash val="solid"/>
          </a:ln>
        </p:spPr>
      </p:sp>
      <p:sp>
        <p:nvSpPr>
          <p:cNvPr id="19" name="Text 17"/>
          <p:cNvSpPr/>
          <p:nvPr/>
        </p:nvSpPr>
        <p:spPr>
          <a:xfrm>
            <a:off x="1419225" y="3225478"/>
            <a:ext cx="3206115" cy="323850"/>
          </a:xfrm>
          <a:prstGeom prst="rect">
            <a:avLst/>
          </a:prstGeom>
          <a:noFill/>
          <a:ln/>
        </p:spPr>
        <p:txBody>
          <a:bodyPr wrap="square" lIns="25400" tIns="25400" rIns="25400" bIns="25400" rtlCol="0" anchor="t">
            <a:normAutofit/>
          </a:bodyPr>
          <a:lstStyle/>
          <a:p>
            <a:pPr marL="0" indent="0" algn="l">
              <a:buNone/>
            </a:pPr>
            <a:r>
              <a:rPr lang="en-US" sz="1725" kern="0" spc="113" dirty="0">
                <a:solidFill>
                  <a:srgbClr val="0E7C71"/>
                </a:solidFill>
                <a:latin typeface="Courier New" pitchFamily="34" charset="0"/>
                <a:ea typeface="Courier New" pitchFamily="34" charset="-122"/>
                <a:cs typeface="Courier New" pitchFamily="34" charset="-120"/>
              </a:rPr>
              <a:t>ESTIMATED ROUND TRIP</a:t>
            </a:r>
            <a:endParaRPr lang="en-US" sz="1725" dirty="0"/>
          </a:p>
        </p:txBody>
      </p:sp>
      <p:sp>
        <p:nvSpPr>
          <p:cNvPr id="20" name="Text 18"/>
          <p:cNvSpPr/>
          <p:nvPr/>
        </p:nvSpPr>
        <p:spPr>
          <a:xfrm>
            <a:off x="8093869" y="3225478"/>
            <a:ext cx="2024777" cy="323850"/>
          </a:xfrm>
          <a:prstGeom prst="rect">
            <a:avLst/>
          </a:prstGeom>
          <a:noFill/>
          <a:ln/>
        </p:spPr>
        <p:txBody>
          <a:bodyPr wrap="square" lIns="25400" tIns="25400" rIns="25400" bIns="25400" rtlCol="0" anchor="t">
            <a:normAutofit/>
          </a:bodyPr>
          <a:lstStyle/>
          <a:p>
            <a:pPr marL="0" indent="0" algn="l">
              <a:buNone/>
            </a:pPr>
            <a:r>
              <a:rPr lang="en-US" sz="1725" dirty="0">
                <a:solidFill>
                  <a:srgbClr val="C8821B"/>
                </a:solidFill>
                <a:latin typeface="Courier New" pitchFamily="34" charset="0"/>
                <a:ea typeface="Courier New" pitchFamily="34" charset="-122"/>
                <a:cs typeface="Courier New" pitchFamily="34" charset="-120"/>
              </a:rPr>
              <a:t>▏ 10 ms target</a:t>
            </a:r>
            <a:endParaRPr lang="en-US" sz="1725" dirty="0"/>
          </a:p>
        </p:txBody>
      </p:sp>
      <p:sp>
        <p:nvSpPr>
          <p:cNvPr id="21" name="Shape 19"/>
          <p:cNvSpPr/>
          <p:nvPr/>
        </p:nvSpPr>
        <p:spPr>
          <a:xfrm>
            <a:off x="6067574" y="3701728"/>
            <a:ext cx="19050" cy="4899347"/>
          </a:xfrm>
          <a:prstGeom prst="rect">
            <a:avLst/>
          </a:prstGeom>
          <a:solidFill>
            <a:srgbClr val="C8821B"/>
          </a:solidFill>
          <a:ln/>
        </p:spPr>
      </p:sp>
      <p:sp>
        <p:nvSpPr>
          <p:cNvPr id="22" name="Text 20"/>
          <p:cNvSpPr/>
          <p:nvPr/>
        </p:nvSpPr>
        <p:spPr>
          <a:xfrm>
            <a:off x="1419225" y="5063133"/>
            <a:ext cx="1885950" cy="347663"/>
          </a:xfrm>
          <a:prstGeom prst="rect">
            <a:avLst/>
          </a:prstGeom>
          <a:noFill/>
          <a:ln/>
        </p:spPr>
        <p:txBody>
          <a:bodyPr wrap="square" lIns="25400" tIns="25400" rIns="25400" bIns="25400" rtlCol="0" anchor="t">
            <a:normAutofit/>
          </a:bodyPr>
          <a:lstStyle/>
          <a:p>
            <a:pPr marL="0" indent="0" algn="l">
              <a:buNone/>
            </a:pPr>
            <a:r>
              <a:rPr lang="en-US" sz="1875" dirty="0">
                <a:solidFill>
                  <a:srgbClr val="5F7185"/>
                </a:solidFill>
                <a:latin typeface="Courier New" pitchFamily="34" charset="0"/>
                <a:ea typeface="Courier New" pitchFamily="34" charset="-122"/>
                <a:cs typeface="Courier New" pitchFamily="34" charset="-120"/>
              </a:rPr>
              <a:t>COM1 only</a:t>
            </a:r>
            <a:endParaRPr lang="en-US" sz="1875" dirty="0"/>
          </a:p>
        </p:txBody>
      </p:sp>
      <p:sp>
        <p:nvSpPr>
          <p:cNvPr id="23" name="Shape 21"/>
          <p:cNvSpPr/>
          <p:nvPr/>
        </p:nvSpPr>
        <p:spPr>
          <a:xfrm>
            <a:off x="3305175" y="5075039"/>
            <a:ext cx="6629400" cy="285750"/>
          </a:xfrm>
          <a:prstGeom prst="roundRect">
            <a:avLst>
              <a:gd name="adj" fmla="val 20000"/>
            </a:avLst>
          </a:prstGeom>
          <a:solidFill>
            <a:srgbClr val="EEF2F6"/>
          </a:solidFill>
          <a:ln/>
        </p:spPr>
      </p:sp>
      <p:sp>
        <p:nvSpPr>
          <p:cNvPr id="24" name="Shape 22"/>
          <p:cNvSpPr/>
          <p:nvPr/>
        </p:nvSpPr>
        <p:spPr>
          <a:xfrm>
            <a:off x="3305175" y="5075039"/>
            <a:ext cx="6098977" cy="285750"/>
          </a:xfrm>
          <a:prstGeom prst="roundRect">
            <a:avLst>
              <a:gd name="adj" fmla="val 20000"/>
            </a:avLst>
          </a:prstGeom>
          <a:solidFill>
            <a:srgbClr val="C8821B"/>
          </a:solidFill>
          <a:ln/>
        </p:spPr>
      </p:sp>
      <p:sp>
        <p:nvSpPr>
          <p:cNvPr id="25" name="Text 23"/>
          <p:cNvSpPr/>
          <p:nvPr/>
        </p:nvSpPr>
        <p:spPr>
          <a:xfrm>
            <a:off x="2695277" y="5075039"/>
            <a:ext cx="6575524" cy="323850"/>
          </a:xfrm>
          <a:prstGeom prst="rect">
            <a:avLst/>
          </a:prstGeom>
          <a:noFill/>
          <a:ln/>
        </p:spPr>
        <p:txBody>
          <a:bodyPr wrap="square" lIns="25400" tIns="25400" rIns="25400" bIns="25400" rtlCol="0" anchor="ctr">
            <a:normAutofit/>
          </a:bodyPr>
          <a:lstStyle/>
          <a:p>
            <a:pPr marL="0" indent="0" algn="r">
              <a:buNone/>
            </a:pPr>
            <a:r>
              <a:rPr lang="en-US" sz="1650" dirty="0">
                <a:solidFill>
                  <a:srgbClr val="FFFFFF"/>
                </a:solidFill>
                <a:latin typeface="Courier New" pitchFamily="34" charset="0"/>
                <a:ea typeface="Courier New" pitchFamily="34" charset="-122"/>
                <a:cs typeface="Courier New" pitchFamily="34" charset="-120"/>
              </a:rPr>
              <a:t>22</a:t>
            </a:r>
            <a:endParaRPr lang="en-US" sz="1650" dirty="0"/>
          </a:p>
        </p:txBody>
      </p:sp>
      <p:sp>
        <p:nvSpPr>
          <p:cNvPr id="26" name="Text 24"/>
          <p:cNvSpPr/>
          <p:nvPr/>
        </p:nvSpPr>
        <p:spPr>
          <a:xfrm>
            <a:off x="1419225" y="5582245"/>
            <a:ext cx="1885950" cy="347663"/>
          </a:xfrm>
          <a:prstGeom prst="rect">
            <a:avLst/>
          </a:prstGeom>
          <a:noFill/>
          <a:ln/>
        </p:spPr>
        <p:txBody>
          <a:bodyPr wrap="square" lIns="25400" tIns="25400" rIns="25400" bIns="25400" rtlCol="0" anchor="t">
            <a:normAutofit/>
          </a:bodyPr>
          <a:lstStyle/>
          <a:p>
            <a:pPr marL="0" indent="0" algn="l">
              <a:buNone/>
            </a:pPr>
            <a:r>
              <a:rPr lang="en-US" sz="1875" dirty="0">
                <a:solidFill>
                  <a:srgbClr val="5F7185"/>
                </a:solidFill>
                <a:latin typeface="Courier New" pitchFamily="34" charset="0"/>
                <a:ea typeface="Courier New" pitchFamily="34" charset="-122"/>
                <a:cs typeface="Courier New" pitchFamily="34" charset="-120"/>
              </a:rPr>
              <a:t>COM2 only</a:t>
            </a:r>
            <a:endParaRPr lang="en-US" sz="1875" dirty="0"/>
          </a:p>
        </p:txBody>
      </p:sp>
      <p:sp>
        <p:nvSpPr>
          <p:cNvPr id="27" name="Shape 25"/>
          <p:cNvSpPr/>
          <p:nvPr/>
        </p:nvSpPr>
        <p:spPr>
          <a:xfrm>
            <a:off x="3305175" y="5594152"/>
            <a:ext cx="6629400" cy="285750"/>
          </a:xfrm>
          <a:prstGeom prst="roundRect">
            <a:avLst>
              <a:gd name="adj" fmla="val 20000"/>
            </a:avLst>
          </a:prstGeom>
          <a:solidFill>
            <a:srgbClr val="EEF2F6"/>
          </a:solidFill>
          <a:ln/>
        </p:spPr>
      </p:sp>
      <p:sp>
        <p:nvSpPr>
          <p:cNvPr id="28" name="Shape 26"/>
          <p:cNvSpPr/>
          <p:nvPr/>
        </p:nvSpPr>
        <p:spPr>
          <a:xfrm>
            <a:off x="3305175" y="5594152"/>
            <a:ext cx="1657350" cy="285750"/>
          </a:xfrm>
          <a:prstGeom prst="roundRect">
            <a:avLst>
              <a:gd name="adj" fmla="val 20000"/>
            </a:avLst>
          </a:prstGeom>
          <a:solidFill>
            <a:srgbClr val="0E7C71"/>
          </a:solidFill>
          <a:ln/>
        </p:spPr>
      </p:sp>
      <p:sp>
        <p:nvSpPr>
          <p:cNvPr id="29" name="Text 27"/>
          <p:cNvSpPr/>
          <p:nvPr/>
        </p:nvSpPr>
        <p:spPr>
          <a:xfrm>
            <a:off x="3139440" y="5594152"/>
            <a:ext cx="1689735" cy="323850"/>
          </a:xfrm>
          <a:prstGeom prst="rect">
            <a:avLst/>
          </a:prstGeom>
          <a:noFill/>
          <a:ln/>
        </p:spPr>
        <p:txBody>
          <a:bodyPr wrap="square" lIns="25400" tIns="25400" rIns="25400" bIns="25400" rtlCol="0" anchor="ctr">
            <a:normAutofit/>
          </a:bodyPr>
          <a:lstStyle/>
          <a:p>
            <a:pPr marL="0" indent="0" algn="r">
              <a:buNone/>
            </a:pPr>
            <a:r>
              <a:rPr lang="en-US" sz="1650" dirty="0">
                <a:solidFill>
                  <a:srgbClr val="FFFFFF"/>
                </a:solidFill>
                <a:latin typeface="Courier New" pitchFamily="34" charset="0"/>
                <a:ea typeface="Courier New" pitchFamily="34" charset="-122"/>
                <a:cs typeface="Courier New" pitchFamily="34" charset="-120"/>
              </a:rPr>
              <a:t>6</a:t>
            </a:r>
            <a:endParaRPr lang="en-US" sz="1650" dirty="0"/>
          </a:p>
        </p:txBody>
      </p:sp>
      <p:sp>
        <p:nvSpPr>
          <p:cNvPr id="30" name="Text 28"/>
          <p:cNvSpPr/>
          <p:nvPr/>
        </p:nvSpPr>
        <p:spPr>
          <a:xfrm>
            <a:off x="1419225" y="6101358"/>
            <a:ext cx="1885950" cy="347663"/>
          </a:xfrm>
          <a:prstGeom prst="rect">
            <a:avLst/>
          </a:prstGeom>
          <a:noFill/>
          <a:ln/>
        </p:spPr>
        <p:txBody>
          <a:bodyPr wrap="square" lIns="25400" tIns="25400" rIns="25400" bIns="25400" rtlCol="0" anchor="t">
            <a:normAutofit/>
          </a:bodyPr>
          <a:lstStyle/>
          <a:p>
            <a:pPr marL="0" indent="0" algn="l">
              <a:buNone/>
            </a:pPr>
            <a:r>
              <a:rPr lang="en-US" sz="1875" dirty="0">
                <a:solidFill>
                  <a:srgbClr val="5F7185"/>
                </a:solidFill>
                <a:latin typeface="Courier New" pitchFamily="34" charset="0"/>
                <a:ea typeface="Courier New" pitchFamily="34" charset="-122"/>
                <a:cs typeface="Courier New" pitchFamily="34" charset="-120"/>
              </a:rPr>
              <a:t>COM3 only</a:t>
            </a:r>
            <a:endParaRPr lang="en-US" sz="1875" dirty="0"/>
          </a:p>
        </p:txBody>
      </p:sp>
      <p:sp>
        <p:nvSpPr>
          <p:cNvPr id="31" name="Shape 29"/>
          <p:cNvSpPr/>
          <p:nvPr/>
        </p:nvSpPr>
        <p:spPr>
          <a:xfrm>
            <a:off x="3305175" y="6113264"/>
            <a:ext cx="6629400" cy="285750"/>
          </a:xfrm>
          <a:prstGeom prst="roundRect">
            <a:avLst>
              <a:gd name="adj" fmla="val 20000"/>
            </a:avLst>
          </a:prstGeom>
          <a:solidFill>
            <a:srgbClr val="EEF2F6"/>
          </a:solidFill>
          <a:ln/>
        </p:spPr>
      </p:sp>
      <p:sp>
        <p:nvSpPr>
          <p:cNvPr id="32" name="Shape 30"/>
          <p:cNvSpPr/>
          <p:nvPr/>
        </p:nvSpPr>
        <p:spPr>
          <a:xfrm>
            <a:off x="3305175" y="6113264"/>
            <a:ext cx="861789" cy="285750"/>
          </a:xfrm>
          <a:prstGeom prst="roundRect">
            <a:avLst>
              <a:gd name="adj" fmla="val 20000"/>
            </a:avLst>
          </a:prstGeom>
          <a:solidFill>
            <a:srgbClr val="0E7C71"/>
          </a:solidFill>
          <a:ln/>
        </p:spPr>
      </p:sp>
      <p:sp>
        <p:nvSpPr>
          <p:cNvPr id="33" name="Text 31"/>
          <p:cNvSpPr/>
          <p:nvPr/>
        </p:nvSpPr>
        <p:spPr>
          <a:xfrm>
            <a:off x="3218996" y="6113264"/>
            <a:ext cx="814618" cy="323850"/>
          </a:xfrm>
          <a:prstGeom prst="rect">
            <a:avLst/>
          </a:prstGeom>
          <a:noFill/>
          <a:ln/>
        </p:spPr>
        <p:txBody>
          <a:bodyPr wrap="square" lIns="25400" tIns="25400" rIns="25400" bIns="25400" rtlCol="0" anchor="ctr">
            <a:normAutofit/>
          </a:bodyPr>
          <a:lstStyle/>
          <a:p>
            <a:pPr marL="0" indent="0" algn="r">
              <a:buNone/>
            </a:pPr>
            <a:r>
              <a:rPr lang="en-US" sz="1650" dirty="0">
                <a:solidFill>
                  <a:srgbClr val="FFFFFF"/>
                </a:solidFill>
                <a:latin typeface="Courier New" pitchFamily="34" charset="0"/>
                <a:ea typeface="Courier New" pitchFamily="34" charset="-122"/>
                <a:cs typeface="Courier New" pitchFamily="34" charset="-120"/>
              </a:rPr>
              <a:t>3</a:t>
            </a:r>
            <a:endParaRPr lang="en-US" sz="1650" dirty="0"/>
          </a:p>
        </p:txBody>
      </p:sp>
      <p:sp>
        <p:nvSpPr>
          <p:cNvPr id="34" name="Text 32"/>
          <p:cNvSpPr/>
          <p:nvPr/>
        </p:nvSpPr>
        <p:spPr>
          <a:xfrm>
            <a:off x="1419225" y="6620470"/>
            <a:ext cx="1790700" cy="657225"/>
          </a:xfrm>
          <a:prstGeom prst="rect">
            <a:avLst/>
          </a:prstGeom>
          <a:noFill/>
          <a:ln/>
        </p:spPr>
        <p:txBody>
          <a:bodyPr wrap="square" lIns="25400" tIns="25400" rIns="25400" bIns="25400" rtlCol="0" anchor="t">
            <a:normAutofit/>
          </a:bodyPr>
          <a:lstStyle/>
          <a:p>
            <a:pPr marL="0" indent="0" algn="l">
              <a:buNone/>
            </a:pPr>
            <a:r>
              <a:rPr lang="en-US" sz="1875" dirty="0">
                <a:solidFill>
                  <a:srgbClr val="5F7185"/>
                </a:solidFill>
                <a:latin typeface="Courier New" pitchFamily="34" charset="0"/>
                <a:ea typeface="Courier New" pitchFamily="34" charset="-122"/>
                <a:cs typeface="Courier New" pitchFamily="34" charset="-120"/>
              </a:rPr>
              <a:t>COM2 + slow PLC</a:t>
            </a:r>
            <a:endParaRPr lang="en-US" sz="1875" dirty="0"/>
          </a:p>
        </p:txBody>
      </p:sp>
      <p:sp>
        <p:nvSpPr>
          <p:cNvPr id="35" name="Shape 33"/>
          <p:cNvSpPr/>
          <p:nvPr/>
        </p:nvSpPr>
        <p:spPr>
          <a:xfrm>
            <a:off x="3305175" y="6787158"/>
            <a:ext cx="6629400" cy="285750"/>
          </a:xfrm>
          <a:prstGeom prst="roundRect">
            <a:avLst>
              <a:gd name="adj" fmla="val 20000"/>
            </a:avLst>
          </a:prstGeom>
          <a:solidFill>
            <a:srgbClr val="EEF2F6"/>
          </a:solidFill>
          <a:ln/>
        </p:spPr>
      </p:sp>
      <p:sp>
        <p:nvSpPr>
          <p:cNvPr id="36" name="Shape 34"/>
          <p:cNvSpPr/>
          <p:nvPr/>
        </p:nvSpPr>
        <p:spPr>
          <a:xfrm>
            <a:off x="3305175" y="6787158"/>
            <a:ext cx="3845049" cy="285750"/>
          </a:xfrm>
          <a:prstGeom prst="roundRect">
            <a:avLst>
              <a:gd name="adj" fmla="val 20000"/>
            </a:avLst>
          </a:prstGeom>
          <a:solidFill>
            <a:srgbClr val="C8821B"/>
          </a:solidFill>
          <a:ln/>
        </p:spPr>
      </p:sp>
      <p:sp>
        <p:nvSpPr>
          <p:cNvPr id="37" name="Text 35"/>
          <p:cNvSpPr/>
          <p:nvPr/>
        </p:nvSpPr>
        <p:spPr>
          <a:xfrm>
            <a:off x="2920670" y="6787158"/>
            <a:ext cx="4096204" cy="323850"/>
          </a:xfrm>
          <a:prstGeom prst="rect">
            <a:avLst/>
          </a:prstGeom>
          <a:noFill/>
          <a:ln/>
        </p:spPr>
        <p:txBody>
          <a:bodyPr wrap="square" lIns="25400" tIns="25400" rIns="25400" bIns="25400" rtlCol="0" anchor="ctr">
            <a:normAutofit/>
          </a:bodyPr>
          <a:lstStyle/>
          <a:p>
            <a:pPr marL="0" indent="0" algn="r">
              <a:buNone/>
            </a:pPr>
            <a:r>
              <a:rPr lang="en-US" sz="1650" dirty="0">
                <a:solidFill>
                  <a:srgbClr val="FFFFFF"/>
                </a:solidFill>
                <a:latin typeface="Courier New" pitchFamily="34" charset="0"/>
                <a:ea typeface="Courier New" pitchFamily="34" charset="-122"/>
                <a:cs typeface="Courier New" pitchFamily="34" charset="-120"/>
              </a:rPr>
              <a:t>14</a:t>
            </a:r>
            <a:endParaRPr lang="en-US" sz="1650" dirty="0"/>
          </a:p>
        </p:txBody>
      </p:sp>
      <p:sp>
        <p:nvSpPr>
          <p:cNvPr id="38" name="Shape 36"/>
          <p:cNvSpPr/>
          <p:nvPr/>
        </p:nvSpPr>
        <p:spPr>
          <a:xfrm>
            <a:off x="10782300" y="2854003"/>
            <a:ext cx="6515100" cy="6061397"/>
          </a:xfrm>
          <a:prstGeom prst="roundRect">
            <a:avLst>
              <a:gd name="adj" fmla="val 3457"/>
            </a:avLst>
          </a:prstGeom>
          <a:solidFill>
            <a:srgbClr val="102033"/>
          </a:solidFill>
          <a:ln/>
        </p:spPr>
      </p:sp>
      <p:sp>
        <p:nvSpPr>
          <p:cNvPr id="39" name="Text 37"/>
          <p:cNvSpPr/>
          <p:nvPr/>
        </p:nvSpPr>
        <p:spPr>
          <a:xfrm>
            <a:off x="11201400" y="4983659"/>
            <a:ext cx="6244590" cy="323850"/>
          </a:xfrm>
          <a:prstGeom prst="rect">
            <a:avLst/>
          </a:prstGeom>
          <a:noFill/>
          <a:ln/>
        </p:spPr>
        <p:txBody>
          <a:bodyPr wrap="square" lIns="25400" tIns="25400" rIns="25400" bIns="25400" rtlCol="0" anchor="t">
            <a:normAutofit/>
          </a:bodyPr>
          <a:lstStyle/>
          <a:p>
            <a:pPr marL="0" indent="0" algn="l">
              <a:buNone/>
            </a:pPr>
            <a:r>
              <a:rPr lang="en-US" sz="1725" kern="0" spc="150" dirty="0">
                <a:solidFill>
                  <a:srgbClr val="5FD7C6"/>
                </a:solidFill>
                <a:latin typeface="Courier New" pitchFamily="34" charset="0"/>
                <a:ea typeface="Courier New" pitchFamily="34" charset="-122"/>
                <a:cs typeface="Courier New" pitchFamily="34" charset="-120"/>
              </a:rPr>
              <a:t>TAKEAWAY</a:t>
            </a:r>
            <a:endParaRPr lang="en-US" sz="1725" dirty="0"/>
          </a:p>
        </p:txBody>
      </p:sp>
      <p:sp>
        <p:nvSpPr>
          <p:cNvPr id="40" name="Text 38"/>
          <p:cNvSpPr/>
          <p:nvPr/>
        </p:nvSpPr>
        <p:spPr>
          <a:xfrm>
            <a:off x="11201400" y="5459909"/>
            <a:ext cx="5847207" cy="1363935"/>
          </a:xfrm>
          <a:prstGeom prst="rect">
            <a:avLst/>
          </a:prstGeom>
          <a:noFill/>
          <a:ln/>
        </p:spPr>
        <p:txBody>
          <a:bodyPr wrap="square" lIns="25400" tIns="25400" rIns="25400" bIns="25400" rtlCol="0" anchor="t">
            <a:normAutofit/>
          </a:bodyPr>
          <a:lstStyle/>
          <a:p>
            <a:pPr marL="0" indent="0" algn="l">
              <a:lnSpc>
                <a:spcPct val="145000"/>
              </a:lnSpc>
              <a:buNone/>
            </a:pPr>
            <a:r>
              <a:rPr lang="en-US" sz="2400" dirty="0">
                <a:solidFill>
                  <a:srgbClr val="EAF0F6"/>
                </a:solidFill>
                <a:latin typeface="Arial" pitchFamily="34" charset="0"/>
                <a:ea typeface="Arial" pitchFamily="34" charset="-122"/>
                <a:cs typeface="Arial" pitchFamily="34" charset="-120"/>
              </a:rPr>
              <a:t>COM2/COM3 can meet the IO-Link portion. A slow PLC scan can still break the budget.</a:t>
            </a:r>
            <a:endParaRPr lang="en-US" sz="2400" dirty="0"/>
          </a:p>
        </p:txBody>
      </p:sp>
      <p:sp>
        <p:nvSpPr>
          <p:cNvPr id="41" name="Shape 39"/>
          <p:cNvSpPr/>
          <p:nvPr/>
        </p:nvSpPr>
        <p:spPr>
          <a:xfrm>
            <a:off x="990600" y="9239250"/>
            <a:ext cx="16306800" cy="9525"/>
          </a:xfrm>
          <a:prstGeom prst="rect">
            <a:avLst/>
          </a:prstGeom>
          <a:solidFill>
            <a:srgbClr val="DCE4ED"/>
          </a:solidFill>
          <a:ln/>
        </p:spPr>
      </p:sp>
      <p:sp>
        <p:nvSpPr>
          <p:cNvPr id="42" name="Text 40"/>
          <p:cNvSpPr/>
          <p:nvPr/>
        </p:nvSpPr>
        <p:spPr>
          <a:xfrm>
            <a:off x="990600" y="9420225"/>
            <a:ext cx="9681210"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Illustrative chain estimate — milliseconds, not benchmarked.</a:t>
            </a:r>
            <a:endParaRPr lang="en-US" sz="1800" dirty="0"/>
          </a:p>
        </p:txBody>
      </p:sp>
      <p:sp>
        <p:nvSpPr>
          <p:cNvPr id="43" name="Text 41"/>
          <p:cNvSpPr/>
          <p:nvPr/>
        </p:nvSpPr>
        <p:spPr>
          <a:xfrm>
            <a:off x="16270560" y="9420225"/>
            <a:ext cx="1103040"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10 / 12</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marL="0" indent="0" algn="l">
              <a:buNone/>
            </a:pPr>
            <a:r>
              <a:rPr lang="en-US" sz="1800" kern="0" spc="263" dirty="0">
                <a:solidFill>
                  <a:srgbClr val="0E7C71"/>
                </a:solidFill>
                <a:latin typeface="Courier New" pitchFamily="34" charset="0"/>
                <a:ea typeface="Courier New" pitchFamily="34" charset="-122"/>
                <a:cs typeface="Courier New" pitchFamily="34" charset="-120"/>
              </a:rPr>
              <a:t>DECISION GUIDE</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marL="0" indent="0" algn="l">
              <a:lnSpc>
                <a:spcPct val="107000"/>
              </a:lnSpc>
              <a:buNone/>
            </a:pPr>
            <a:r>
              <a:rPr lang="en-US" sz="3900" b="1" kern="0" spc="-37" dirty="0">
                <a:solidFill>
                  <a:srgbClr val="102033"/>
                </a:solidFill>
                <a:latin typeface="Arial" pitchFamily="34" charset="0"/>
                <a:ea typeface="Arial" pitchFamily="34" charset="-122"/>
                <a:cs typeface="Arial" pitchFamily="34" charset="-120"/>
              </a:rPr>
              <a:t>Digital I/O, 4–20 mA, or IO-Link?</a:t>
            </a:r>
            <a:endParaRPr lang="en-US" sz="3900" dirty="0"/>
          </a:p>
        </p:txBody>
      </p:sp>
      <p:sp>
        <p:nvSpPr>
          <p:cNvPr id="5" name="Shape 3"/>
          <p:cNvSpPr/>
          <p:nvPr/>
        </p:nvSpPr>
        <p:spPr>
          <a:xfrm>
            <a:off x="990600" y="2139628"/>
            <a:ext cx="5229225" cy="6699572"/>
          </a:xfrm>
          <a:prstGeom prst="roundRect">
            <a:avLst>
              <a:gd name="adj" fmla="val 4007"/>
            </a:avLst>
          </a:prstGeom>
          <a:solidFill>
            <a:srgbClr val="FFFFFF"/>
          </a:solidFill>
          <a:ln w="9525">
            <a:solidFill>
              <a:srgbClr val="DCE4ED"/>
            </a:solidFill>
            <a:prstDash val="solid"/>
          </a:ln>
        </p:spPr>
      </p:sp>
      <p:sp>
        <p:nvSpPr>
          <p:cNvPr id="6" name="Text 4"/>
          <p:cNvSpPr/>
          <p:nvPr/>
        </p:nvSpPr>
        <p:spPr>
          <a:xfrm>
            <a:off x="1343025" y="2511103"/>
            <a:ext cx="4976813" cy="409575"/>
          </a:xfrm>
          <a:prstGeom prst="rect">
            <a:avLst/>
          </a:prstGeom>
          <a:noFill/>
          <a:ln/>
        </p:spPr>
        <p:txBody>
          <a:bodyPr wrap="square" lIns="25400" tIns="25400" rIns="25400" bIns="25400" rtlCol="0" anchor="t">
            <a:normAutofit/>
          </a:bodyPr>
          <a:lstStyle/>
          <a:p>
            <a:pPr marL="0" indent="0" algn="l">
              <a:buNone/>
            </a:pPr>
            <a:r>
              <a:rPr lang="en-US" sz="2550" b="1" dirty="0">
                <a:solidFill>
                  <a:srgbClr val="102033"/>
                </a:solidFill>
                <a:latin typeface="Arial" pitchFamily="34" charset="0"/>
                <a:ea typeface="Arial" pitchFamily="34" charset="-122"/>
                <a:cs typeface="Arial" pitchFamily="34" charset="-120"/>
              </a:rPr>
              <a:t>Digital I/O</a:t>
            </a:r>
            <a:endParaRPr lang="en-US" sz="2550" dirty="0"/>
          </a:p>
        </p:txBody>
      </p:sp>
      <p:sp>
        <p:nvSpPr>
          <p:cNvPr id="7" name="Text 5"/>
          <p:cNvSpPr/>
          <p:nvPr/>
        </p:nvSpPr>
        <p:spPr>
          <a:xfrm>
            <a:off x="1343025" y="3168328"/>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9AA8B6"/>
                </a:solidFill>
                <a:latin typeface="Courier New" pitchFamily="34" charset="0"/>
                <a:ea typeface="Courier New" pitchFamily="34" charset="-122"/>
                <a:cs typeface="Courier New" pitchFamily="34" charset="-120"/>
              </a:rPr>
              <a:t>DATA</a:t>
            </a:r>
            <a:endParaRPr lang="en-US" sz="1575" dirty="0"/>
          </a:p>
        </p:txBody>
      </p:sp>
      <p:sp>
        <p:nvSpPr>
          <p:cNvPr id="8" name="Text 6"/>
          <p:cNvSpPr/>
          <p:nvPr/>
        </p:nvSpPr>
        <p:spPr>
          <a:xfrm>
            <a:off x="1343025" y="3487415"/>
            <a:ext cx="4976813" cy="381000"/>
          </a:xfrm>
          <a:prstGeom prst="rect">
            <a:avLst/>
          </a:prstGeom>
          <a:noFill/>
          <a:ln/>
        </p:spPr>
        <p:txBody>
          <a:bodyPr wrap="square" lIns="25400" tIns="25400" rIns="25400" bIns="25400" rtlCol="0" anchor="t">
            <a:normAutofit/>
          </a:bodyPr>
          <a:lstStyle/>
          <a:p>
            <a:pPr marL="0" indent="0" algn="l">
              <a:buNone/>
            </a:pPr>
            <a:r>
              <a:rPr lang="en-US" sz="2100" dirty="0">
                <a:solidFill>
                  <a:srgbClr val="102033"/>
                </a:solidFill>
                <a:latin typeface="Arial" pitchFamily="34" charset="0"/>
                <a:ea typeface="Arial" pitchFamily="34" charset="-122"/>
                <a:cs typeface="Arial" pitchFamily="34" charset="-120"/>
              </a:rPr>
              <a:t>On / off</a:t>
            </a:r>
            <a:endParaRPr lang="en-US" sz="2100" dirty="0"/>
          </a:p>
        </p:txBody>
      </p:sp>
      <p:sp>
        <p:nvSpPr>
          <p:cNvPr id="9" name="Text 7"/>
          <p:cNvSpPr/>
          <p:nvPr/>
        </p:nvSpPr>
        <p:spPr>
          <a:xfrm>
            <a:off x="1343025" y="4039865"/>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9AA8B6"/>
                </a:solidFill>
                <a:latin typeface="Courier New" pitchFamily="34" charset="0"/>
                <a:ea typeface="Courier New" pitchFamily="34" charset="-122"/>
                <a:cs typeface="Courier New" pitchFamily="34" charset="-120"/>
              </a:rPr>
              <a:t>DIAGNOSTICS</a:t>
            </a:r>
            <a:endParaRPr lang="en-US" sz="1575" dirty="0"/>
          </a:p>
        </p:txBody>
      </p:sp>
      <p:sp>
        <p:nvSpPr>
          <p:cNvPr id="10" name="Text 8"/>
          <p:cNvSpPr/>
          <p:nvPr/>
        </p:nvSpPr>
        <p:spPr>
          <a:xfrm>
            <a:off x="1343025" y="4358953"/>
            <a:ext cx="4976813" cy="381000"/>
          </a:xfrm>
          <a:prstGeom prst="rect">
            <a:avLst/>
          </a:prstGeom>
          <a:noFill/>
          <a:ln/>
        </p:spPr>
        <p:txBody>
          <a:bodyPr wrap="square" lIns="25400" tIns="25400" rIns="25400" bIns="25400" rtlCol="0" anchor="t">
            <a:normAutofit/>
          </a:bodyPr>
          <a:lstStyle/>
          <a:p>
            <a:pPr marL="0" indent="0" algn="l">
              <a:buNone/>
            </a:pPr>
            <a:r>
              <a:rPr lang="en-US" sz="2100" dirty="0">
                <a:solidFill>
                  <a:srgbClr val="9AA8B6"/>
                </a:solidFill>
                <a:latin typeface="Arial" pitchFamily="34" charset="0"/>
                <a:ea typeface="Arial" pitchFamily="34" charset="-122"/>
                <a:cs typeface="Arial" pitchFamily="34" charset="-120"/>
              </a:rPr>
              <a:t>None</a:t>
            </a:r>
            <a:endParaRPr lang="en-US" sz="2100" dirty="0"/>
          </a:p>
        </p:txBody>
      </p:sp>
      <p:sp>
        <p:nvSpPr>
          <p:cNvPr id="11" name="Text 9"/>
          <p:cNvSpPr/>
          <p:nvPr/>
        </p:nvSpPr>
        <p:spPr>
          <a:xfrm>
            <a:off x="1343025" y="4911403"/>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9AA8B6"/>
                </a:solidFill>
                <a:latin typeface="Courier New" pitchFamily="34" charset="0"/>
                <a:ea typeface="Courier New" pitchFamily="34" charset="-122"/>
                <a:cs typeface="Courier New" pitchFamily="34" charset="-120"/>
              </a:rPr>
              <a:t>RECONFIGURATION</a:t>
            </a:r>
            <a:endParaRPr lang="en-US" sz="1575" dirty="0"/>
          </a:p>
        </p:txBody>
      </p:sp>
      <p:sp>
        <p:nvSpPr>
          <p:cNvPr id="12" name="Text 10"/>
          <p:cNvSpPr/>
          <p:nvPr/>
        </p:nvSpPr>
        <p:spPr>
          <a:xfrm>
            <a:off x="1343025" y="5230490"/>
            <a:ext cx="4976813" cy="381000"/>
          </a:xfrm>
          <a:prstGeom prst="rect">
            <a:avLst/>
          </a:prstGeom>
          <a:noFill/>
          <a:ln/>
        </p:spPr>
        <p:txBody>
          <a:bodyPr wrap="square" lIns="25400" tIns="25400" rIns="25400" bIns="25400" rtlCol="0" anchor="t">
            <a:normAutofit/>
          </a:bodyPr>
          <a:lstStyle/>
          <a:p>
            <a:pPr marL="0" indent="0" algn="l">
              <a:buNone/>
            </a:pPr>
            <a:r>
              <a:rPr lang="en-US" sz="2100" dirty="0">
                <a:solidFill>
                  <a:srgbClr val="9AA8B6"/>
                </a:solidFill>
                <a:latin typeface="Arial" pitchFamily="34" charset="0"/>
                <a:ea typeface="Arial" pitchFamily="34" charset="-122"/>
                <a:cs typeface="Arial" pitchFamily="34" charset="-120"/>
              </a:rPr>
              <a:t>Fixed at install</a:t>
            </a:r>
            <a:endParaRPr lang="en-US" sz="2100" dirty="0"/>
          </a:p>
        </p:txBody>
      </p:sp>
      <p:sp>
        <p:nvSpPr>
          <p:cNvPr id="13" name="Shape 11"/>
          <p:cNvSpPr/>
          <p:nvPr/>
        </p:nvSpPr>
        <p:spPr>
          <a:xfrm>
            <a:off x="1343025" y="7582421"/>
            <a:ext cx="4524375" cy="9525"/>
          </a:xfrm>
          <a:prstGeom prst="rect">
            <a:avLst/>
          </a:prstGeom>
          <a:solidFill>
            <a:srgbClr val="EBF0F5"/>
          </a:solidFill>
          <a:ln/>
        </p:spPr>
      </p:sp>
      <p:sp>
        <p:nvSpPr>
          <p:cNvPr id="14" name="Text 12"/>
          <p:cNvSpPr/>
          <p:nvPr/>
        </p:nvSpPr>
        <p:spPr>
          <a:xfrm>
            <a:off x="1343025" y="7782446"/>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0E7C71"/>
                </a:solidFill>
                <a:latin typeface="Courier New" pitchFamily="34" charset="0"/>
                <a:ea typeface="Courier New" pitchFamily="34" charset="-122"/>
                <a:cs typeface="Courier New" pitchFamily="34" charset="-120"/>
              </a:rPr>
              <a:t>BEST FOR</a:t>
            </a:r>
            <a:endParaRPr lang="en-US" sz="1575" dirty="0"/>
          </a:p>
        </p:txBody>
      </p:sp>
      <p:sp>
        <p:nvSpPr>
          <p:cNvPr id="15" name="Text 13"/>
          <p:cNvSpPr/>
          <p:nvPr/>
        </p:nvSpPr>
        <p:spPr>
          <a:xfrm>
            <a:off x="1343025" y="8120583"/>
            <a:ext cx="4976813" cy="385242"/>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3A4759"/>
                </a:solidFill>
                <a:latin typeface="Arial" pitchFamily="34" charset="0"/>
                <a:ea typeface="Arial" pitchFamily="34" charset="-122"/>
                <a:cs typeface="Arial" pitchFamily="34" charset="-120"/>
              </a:rPr>
              <a:t>Lowest-cost limit switches</a:t>
            </a:r>
            <a:endParaRPr lang="en-US" sz="2025" dirty="0"/>
          </a:p>
        </p:txBody>
      </p:sp>
      <p:sp>
        <p:nvSpPr>
          <p:cNvPr id="16" name="Shape 14"/>
          <p:cNvSpPr/>
          <p:nvPr/>
        </p:nvSpPr>
        <p:spPr>
          <a:xfrm>
            <a:off x="6524625" y="2139628"/>
            <a:ext cx="5229225" cy="6699572"/>
          </a:xfrm>
          <a:prstGeom prst="roundRect">
            <a:avLst>
              <a:gd name="adj" fmla="val 4007"/>
            </a:avLst>
          </a:prstGeom>
          <a:solidFill>
            <a:srgbClr val="FFFFFF"/>
          </a:solidFill>
          <a:ln w="9525">
            <a:solidFill>
              <a:srgbClr val="DCE4ED"/>
            </a:solidFill>
            <a:prstDash val="solid"/>
          </a:ln>
        </p:spPr>
      </p:sp>
      <p:sp>
        <p:nvSpPr>
          <p:cNvPr id="17" name="Text 15"/>
          <p:cNvSpPr/>
          <p:nvPr/>
        </p:nvSpPr>
        <p:spPr>
          <a:xfrm>
            <a:off x="6877050" y="2511103"/>
            <a:ext cx="4976813" cy="409575"/>
          </a:xfrm>
          <a:prstGeom prst="rect">
            <a:avLst/>
          </a:prstGeom>
          <a:noFill/>
          <a:ln/>
        </p:spPr>
        <p:txBody>
          <a:bodyPr wrap="square" lIns="25400" tIns="25400" rIns="25400" bIns="25400" rtlCol="0" anchor="t">
            <a:normAutofit/>
          </a:bodyPr>
          <a:lstStyle/>
          <a:p>
            <a:pPr marL="0" indent="0" algn="l">
              <a:buNone/>
            </a:pPr>
            <a:r>
              <a:rPr lang="en-US" sz="2550" b="1" dirty="0">
                <a:solidFill>
                  <a:srgbClr val="102033"/>
                </a:solidFill>
                <a:latin typeface="Arial" pitchFamily="34" charset="0"/>
                <a:ea typeface="Arial" pitchFamily="34" charset="-122"/>
                <a:cs typeface="Arial" pitchFamily="34" charset="-120"/>
              </a:rPr>
              <a:t>4–20 mA analog</a:t>
            </a:r>
            <a:endParaRPr lang="en-US" sz="2550" dirty="0"/>
          </a:p>
        </p:txBody>
      </p:sp>
      <p:sp>
        <p:nvSpPr>
          <p:cNvPr id="18" name="Text 16"/>
          <p:cNvSpPr/>
          <p:nvPr/>
        </p:nvSpPr>
        <p:spPr>
          <a:xfrm>
            <a:off x="6877050" y="3168328"/>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9AA8B6"/>
                </a:solidFill>
                <a:latin typeface="Courier New" pitchFamily="34" charset="0"/>
                <a:ea typeface="Courier New" pitchFamily="34" charset="-122"/>
                <a:cs typeface="Courier New" pitchFamily="34" charset="-120"/>
              </a:rPr>
              <a:t>DATA</a:t>
            </a:r>
            <a:endParaRPr lang="en-US" sz="1575" dirty="0"/>
          </a:p>
        </p:txBody>
      </p:sp>
      <p:sp>
        <p:nvSpPr>
          <p:cNvPr id="19" name="Text 17"/>
          <p:cNvSpPr/>
          <p:nvPr/>
        </p:nvSpPr>
        <p:spPr>
          <a:xfrm>
            <a:off x="6877050" y="3487415"/>
            <a:ext cx="4976813" cy="381000"/>
          </a:xfrm>
          <a:prstGeom prst="rect">
            <a:avLst/>
          </a:prstGeom>
          <a:noFill/>
          <a:ln/>
        </p:spPr>
        <p:txBody>
          <a:bodyPr wrap="square" lIns="25400" tIns="25400" rIns="25400" bIns="25400" rtlCol="0" anchor="t">
            <a:normAutofit/>
          </a:bodyPr>
          <a:lstStyle/>
          <a:p>
            <a:pPr marL="0" indent="0" algn="l">
              <a:buNone/>
            </a:pPr>
            <a:r>
              <a:rPr lang="en-US" sz="2100" dirty="0">
                <a:solidFill>
                  <a:srgbClr val="102033"/>
                </a:solidFill>
                <a:latin typeface="Arial" pitchFamily="34" charset="0"/>
                <a:ea typeface="Arial" pitchFamily="34" charset="-122"/>
                <a:cs typeface="Arial" pitchFamily="34" charset="-120"/>
              </a:rPr>
              <a:t>One continuous value</a:t>
            </a:r>
            <a:endParaRPr lang="en-US" sz="2100" dirty="0"/>
          </a:p>
        </p:txBody>
      </p:sp>
      <p:sp>
        <p:nvSpPr>
          <p:cNvPr id="20" name="Text 18"/>
          <p:cNvSpPr/>
          <p:nvPr/>
        </p:nvSpPr>
        <p:spPr>
          <a:xfrm>
            <a:off x="6877050" y="4039865"/>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9AA8B6"/>
                </a:solidFill>
                <a:latin typeface="Courier New" pitchFamily="34" charset="0"/>
                <a:ea typeface="Courier New" pitchFamily="34" charset="-122"/>
                <a:cs typeface="Courier New" pitchFamily="34" charset="-120"/>
              </a:rPr>
              <a:t>DIAGNOSTICS</a:t>
            </a:r>
            <a:endParaRPr lang="en-US" sz="1575" dirty="0"/>
          </a:p>
        </p:txBody>
      </p:sp>
      <p:sp>
        <p:nvSpPr>
          <p:cNvPr id="21" name="Text 19"/>
          <p:cNvSpPr/>
          <p:nvPr/>
        </p:nvSpPr>
        <p:spPr>
          <a:xfrm>
            <a:off x="6877050" y="4358953"/>
            <a:ext cx="4976813" cy="381000"/>
          </a:xfrm>
          <a:prstGeom prst="rect">
            <a:avLst/>
          </a:prstGeom>
          <a:noFill/>
          <a:ln/>
        </p:spPr>
        <p:txBody>
          <a:bodyPr wrap="square" lIns="25400" tIns="25400" rIns="25400" bIns="25400" rtlCol="0" anchor="t">
            <a:normAutofit/>
          </a:bodyPr>
          <a:lstStyle/>
          <a:p>
            <a:pPr marL="0" indent="0" algn="l">
              <a:buNone/>
            </a:pPr>
            <a:r>
              <a:rPr lang="en-US" sz="2100" dirty="0">
                <a:solidFill>
                  <a:srgbClr val="9AA8B6"/>
                </a:solidFill>
                <a:latin typeface="Arial" pitchFamily="34" charset="0"/>
                <a:ea typeface="Arial" pitchFamily="34" charset="-122"/>
                <a:cs typeface="Arial" pitchFamily="34" charset="-120"/>
              </a:rPr>
              <a:t>None</a:t>
            </a:r>
            <a:endParaRPr lang="en-US" sz="2100" dirty="0"/>
          </a:p>
        </p:txBody>
      </p:sp>
      <p:sp>
        <p:nvSpPr>
          <p:cNvPr id="22" name="Text 20"/>
          <p:cNvSpPr/>
          <p:nvPr/>
        </p:nvSpPr>
        <p:spPr>
          <a:xfrm>
            <a:off x="6877050" y="4911403"/>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9AA8B6"/>
                </a:solidFill>
                <a:latin typeface="Courier New" pitchFamily="34" charset="0"/>
                <a:ea typeface="Courier New" pitchFamily="34" charset="-122"/>
                <a:cs typeface="Courier New" pitchFamily="34" charset="-120"/>
              </a:rPr>
              <a:t>RECONFIGURATION</a:t>
            </a:r>
            <a:endParaRPr lang="en-US" sz="1575" dirty="0"/>
          </a:p>
        </p:txBody>
      </p:sp>
      <p:sp>
        <p:nvSpPr>
          <p:cNvPr id="23" name="Text 21"/>
          <p:cNvSpPr/>
          <p:nvPr/>
        </p:nvSpPr>
        <p:spPr>
          <a:xfrm>
            <a:off x="6877050" y="5230490"/>
            <a:ext cx="4976813" cy="381000"/>
          </a:xfrm>
          <a:prstGeom prst="rect">
            <a:avLst/>
          </a:prstGeom>
          <a:noFill/>
          <a:ln/>
        </p:spPr>
        <p:txBody>
          <a:bodyPr wrap="square" lIns="25400" tIns="25400" rIns="25400" bIns="25400" rtlCol="0" anchor="t">
            <a:normAutofit/>
          </a:bodyPr>
          <a:lstStyle/>
          <a:p>
            <a:pPr marL="0" indent="0" algn="l">
              <a:buNone/>
            </a:pPr>
            <a:r>
              <a:rPr lang="en-US" sz="2100" dirty="0">
                <a:solidFill>
                  <a:srgbClr val="9AA8B6"/>
                </a:solidFill>
                <a:latin typeface="Arial" pitchFamily="34" charset="0"/>
                <a:ea typeface="Arial" pitchFamily="34" charset="-122"/>
                <a:cs typeface="Arial" pitchFamily="34" charset="-120"/>
              </a:rPr>
              <a:t>Fixed at install</a:t>
            </a:r>
            <a:endParaRPr lang="en-US" sz="2100" dirty="0"/>
          </a:p>
        </p:txBody>
      </p:sp>
      <p:sp>
        <p:nvSpPr>
          <p:cNvPr id="24" name="Shape 22"/>
          <p:cNvSpPr/>
          <p:nvPr/>
        </p:nvSpPr>
        <p:spPr>
          <a:xfrm>
            <a:off x="6877050" y="7582421"/>
            <a:ext cx="4524375" cy="9525"/>
          </a:xfrm>
          <a:prstGeom prst="rect">
            <a:avLst/>
          </a:prstGeom>
          <a:solidFill>
            <a:srgbClr val="EBF0F5"/>
          </a:solidFill>
          <a:ln/>
        </p:spPr>
      </p:sp>
      <p:sp>
        <p:nvSpPr>
          <p:cNvPr id="25" name="Text 23"/>
          <p:cNvSpPr/>
          <p:nvPr/>
        </p:nvSpPr>
        <p:spPr>
          <a:xfrm>
            <a:off x="6877050" y="7782446"/>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0E7C71"/>
                </a:solidFill>
                <a:latin typeface="Courier New" pitchFamily="34" charset="0"/>
                <a:ea typeface="Courier New" pitchFamily="34" charset="-122"/>
                <a:cs typeface="Courier New" pitchFamily="34" charset="-120"/>
              </a:rPr>
              <a:t>BEST FOR</a:t>
            </a:r>
            <a:endParaRPr lang="en-US" sz="1575" dirty="0"/>
          </a:p>
        </p:txBody>
      </p:sp>
      <p:sp>
        <p:nvSpPr>
          <p:cNvPr id="26" name="Text 24"/>
          <p:cNvSpPr/>
          <p:nvPr/>
        </p:nvSpPr>
        <p:spPr>
          <a:xfrm>
            <a:off x="6877050" y="8120583"/>
            <a:ext cx="4976813" cy="385242"/>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3A4759"/>
                </a:solidFill>
                <a:latin typeface="Arial" pitchFamily="34" charset="0"/>
                <a:ea typeface="Arial" pitchFamily="34" charset="-122"/>
                <a:cs typeface="Arial" pitchFamily="34" charset="-120"/>
              </a:rPr>
              <a:t>Simple analog over long cable runs</a:t>
            </a:r>
            <a:endParaRPr lang="en-US" sz="2025" dirty="0"/>
          </a:p>
        </p:txBody>
      </p:sp>
      <p:sp>
        <p:nvSpPr>
          <p:cNvPr id="27" name="Shape 25"/>
          <p:cNvSpPr/>
          <p:nvPr/>
        </p:nvSpPr>
        <p:spPr>
          <a:xfrm>
            <a:off x="12058650" y="2139628"/>
            <a:ext cx="5238750" cy="6699572"/>
          </a:xfrm>
          <a:prstGeom prst="roundRect">
            <a:avLst>
              <a:gd name="adj" fmla="val 4000"/>
            </a:avLst>
          </a:prstGeom>
          <a:solidFill>
            <a:srgbClr val="EAF7F4"/>
          </a:solidFill>
          <a:ln w="14288">
            <a:solidFill>
              <a:srgbClr val="BFE6DF"/>
            </a:solidFill>
            <a:prstDash val="solid"/>
          </a:ln>
          <a:effectLst>
            <a:outerShdw blurRad="533400" dist="228600" dir="5400000" algn="bl" rotWithShape="0">
              <a:srgbClr val="0E7C71">
                <a:alpha val="45000"/>
              </a:srgbClr>
            </a:outerShdw>
          </a:effectLst>
        </p:spPr>
      </p:sp>
      <p:sp>
        <p:nvSpPr>
          <p:cNvPr id="28" name="Text 26"/>
          <p:cNvSpPr/>
          <p:nvPr/>
        </p:nvSpPr>
        <p:spPr>
          <a:xfrm>
            <a:off x="12415838" y="2515865"/>
            <a:ext cx="4976813" cy="409575"/>
          </a:xfrm>
          <a:prstGeom prst="rect">
            <a:avLst/>
          </a:prstGeom>
          <a:noFill/>
          <a:ln/>
        </p:spPr>
        <p:txBody>
          <a:bodyPr wrap="square" lIns="25400" tIns="25400" rIns="25400" bIns="25400" rtlCol="0" anchor="t">
            <a:normAutofit/>
          </a:bodyPr>
          <a:lstStyle/>
          <a:p>
            <a:pPr marL="0" indent="0" algn="l">
              <a:buNone/>
            </a:pPr>
            <a:r>
              <a:rPr lang="en-US" sz="2550" b="1" dirty="0">
                <a:solidFill>
                  <a:srgbClr val="0E7C71"/>
                </a:solidFill>
                <a:latin typeface="Arial" pitchFamily="34" charset="0"/>
                <a:ea typeface="Arial" pitchFamily="34" charset="-122"/>
                <a:cs typeface="Arial" pitchFamily="34" charset="-120"/>
              </a:rPr>
              <a:t>IO-Link</a:t>
            </a:r>
            <a:endParaRPr lang="en-US" sz="2550" dirty="0"/>
          </a:p>
        </p:txBody>
      </p:sp>
      <p:sp>
        <p:nvSpPr>
          <p:cNvPr id="29" name="Text 27"/>
          <p:cNvSpPr/>
          <p:nvPr/>
        </p:nvSpPr>
        <p:spPr>
          <a:xfrm>
            <a:off x="12415838" y="3173090"/>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0E9C8C"/>
                </a:solidFill>
                <a:latin typeface="Courier New" pitchFamily="34" charset="0"/>
                <a:ea typeface="Courier New" pitchFamily="34" charset="-122"/>
                <a:cs typeface="Courier New" pitchFamily="34" charset="-120"/>
              </a:rPr>
              <a:t>DATA</a:t>
            </a:r>
            <a:endParaRPr lang="en-US" sz="1575" dirty="0"/>
          </a:p>
        </p:txBody>
      </p:sp>
      <p:sp>
        <p:nvSpPr>
          <p:cNvPr id="30" name="Text 28"/>
          <p:cNvSpPr/>
          <p:nvPr/>
        </p:nvSpPr>
        <p:spPr>
          <a:xfrm>
            <a:off x="12415838" y="3492178"/>
            <a:ext cx="4976813" cy="381000"/>
          </a:xfrm>
          <a:prstGeom prst="rect">
            <a:avLst/>
          </a:prstGeom>
          <a:noFill/>
          <a:ln/>
        </p:spPr>
        <p:txBody>
          <a:bodyPr wrap="square" lIns="25400" tIns="25400" rIns="25400" bIns="25400" rtlCol="0" anchor="t">
            <a:normAutofit/>
          </a:bodyPr>
          <a:lstStyle/>
          <a:p>
            <a:pPr marL="0" indent="0" algn="l">
              <a:buNone/>
            </a:pPr>
            <a:r>
              <a:rPr lang="en-US" sz="2100" dirty="0">
                <a:solidFill>
                  <a:srgbClr val="1C3A36"/>
                </a:solidFill>
                <a:latin typeface="Arial" pitchFamily="34" charset="0"/>
                <a:ea typeface="Arial" pitchFamily="34" charset="-122"/>
                <a:cs typeface="Arial" pitchFamily="34" charset="-120"/>
              </a:rPr>
              <a:t>Process + parameters + events</a:t>
            </a:r>
            <a:endParaRPr lang="en-US" sz="2100" dirty="0"/>
          </a:p>
        </p:txBody>
      </p:sp>
      <p:sp>
        <p:nvSpPr>
          <p:cNvPr id="31" name="Text 29"/>
          <p:cNvSpPr/>
          <p:nvPr/>
        </p:nvSpPr>
        <p:spPr>
          <a:xfrm>
            <a:off x="12415838" y="4044628"/>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0E9C8C"/>
                </a:solidFill>
                <a:latin typeface="Courier New" pitchFamily="34" charset="0"/>
                <a:ea typeface="Courier New" pitchFamily="34" charset="-122"/>
                <a:cs typeface="Courier New" pitchFamily="34" charset="-120"/>
              </a:rPr>
              <a:t>DIAGNOSTICS</a:t>
            </a:r>
            <a:endParaRPr lang="en-US" sz="1575" dirty="0"/>
          </a:p>
        </p:txBody>
      </p:sp>
      <p:sp>
        <p:nvSpPr>
          <p:cNvPr id="32" name="Text 30"/>
          <p:cNvSpPr/>
          <p:nvPr/>
        </p:nvSpPr>
        <p:spPr>
          <a:xfrm>
            <a:off x="12415838" y="4363715"/>
            <a:ext cx="4976813" cy="381000"/>
          </a:xfrm>
          <a:prstGeom prst="rect">
            <a:avLst/>
          </a:prstGeom>
          <a:noFill/>
          <a:ln/>
        </p:spPr>
        <p:txBody>
          <a:bodyPr wrap="square" lIns="25400" tIns="25400" rIns="25400" bIns="25400" rtlCol="0" anchor="t">
            <a:normAutofit/>
          </a:bodyPr>
          <a:lstStyle/>
          <a:p>
            <a:pPr marL="0" indent="0" algn="l">
              <a:buNone/>
            </a:pPr>
            <a:r>
              <a:rPr lang="en-US" sz="2100" dirty="0">
                <a:solidFill>
                  <a:srgbClr val="1C3A36"/>
                </a:solidFill>
                <a:latin typeface="Arial" pitchFamily="34" charset="0"/>
                <a:ea typeface="Arial" pitchFamily="34" charset="-122"/>
                <a:cs typeface="Arial" pitchFamily="34" charset="-120"/>
              </a:rPr>
              <a:t>Readable event text</a:t>
            </a:r>
            <a:endParaRPr lang="en-US" sz="2100" dirty="0"/>
          </a:p>
        </p:txBody>
      </p:sp>
      <p:sp>
        <p:nvSpPr>
          <p:cNvPr id="33" name="Text 31"/>
          <p:cNvSpPr/>
          <p:nvPr/>
        </p:nvSpPr>
        <p:spPr>
          <a:xfrm>
            <a:off x="12415838" y="4916165"/>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0E9C8C"/>
                </a:solidFill>
                <a:latin typeface="Courier New" pitchFamily="34" charset="0"/>
                <a:ea typeface="Courier New" pitchFamily="34" charset="-122"/>
                <a:cs typeface="Courier New" pitchFamily="34" charset="-120"/>
              </a:rPr>
              <a:t>RECONFIGURATION</a:t>
            </a:r>
            <a:endParaRPr lang="en-US" sz="1575" dirty="0"/>
          </a:p>
        </p:txBody>
      </p:sp>
      <p:sp>
        <p:nvSpPr>
          <p:cNvPr id="34" name="Text 32"/>
          <p:cNvSpPr/>
          <p:nvPr/>
        </p:nvSpPr>
        <p:spPr>
          <a:xfrm>
            <a:off x="12415838" y="5235253"/>
            <a:ext cx="4976813" cy="381000"/>
          </a:xfrm>
          <a:prstGeom prst="rect">
            <a:avLst/>
          </a:prstGeom>
          <a:noFill/>
          <a:ln/>
        </p:spPr>
        <p:txBody>
          <a:bodyPr wrap="square" lIns="25400" tIns="25400" rIns="25400" bIns="25400" rtlCol="0" anchor="t">
            <a:normAutofit/>
          </a:bodyPr>
          <a:lstStyle/>
          <a:p>
            <a:pPr marL="0" indent="0" algn="l">
              <a:buNone/>
            </a:pPr>
            <a:r>
              <a:rPr lang="en-US" sz="2100" dirty="0">
                <a:solidFill>
                  <a:srgbClr val="1C3A36"/>
                </a:solidFill>
                <a:latin typeface="Arial" pitchFamily="34" charset="0"/>
                <a:ea typeface="Arial" pitchFamily="34" charset="-122"/>
                <a:cs typeface="Arial" pitchFamily="34" charset="-120"/>
              </a:rPr>
              <a:t>Remote in seconds</a:t>
            </a:r>
            <a:endParaRPr lang="en-US" sz="2100" dirty="0"/>
          </a:p>
        </p:txBody>
      </p:sp>
      <p:sp>
        <p:nvSpPr>
          <p:cNvPr id="35" name="Shape 33"/>
          <p:cNvSpPr/>
          <p:nvPr/>
        </p:nvSpPr>
        <p:spPr>
          <a:xfrm>
            <a:off x="12415838" y="7577658"/>
            <a:ext cx="4524375" cy="9525"/>
          </a:xfrm>
          <a:prstGeom prst="rect">
            <a:avLst/>
          </a:prstGeom>
          <a:solidFill>
            <a:srgbClr val="BFE6DF"/>
          </a:solidFill>
          <a:ln/>
        </p:spPr>
      </p:sp>
      <p:sp>
        <p:nvSpPr>
          <p:cNvPr id="36" name="Text 34"/>
          <p:cNvSpPr/>
          <p:nvPr/>
        </p:nvSpPr>
        <p:spPr>
          <a:xfrm>
            <a:off x="12415838" y="7777683"/>
            <a:ext cx="4976813" cy="300038"/>
          </a:xfrm>
          <a:prstGeom prst="rect">
            <a:avLst/>
          </a:prstGeom>
          <a:noFill/>
          <a:ln/>
        </p:spPr>
        <p:txBody>
          <a:bodyPr wrap="square" lIns="25400" tIns="25400" rIns="25400" bIns="25400" rtlCol="0" anchor="t">
            <a:normAutofit/>
          </a:bodyPr>
          <a:lstStyle/>
          <a:p>
            <a:pPr marL="0" indent="0" algn="l">
              <a:buNone/>
            </a:pPr>
            <a:r>
              <a:rPr lang="en-US" sz="1575" kern="0" spc="75" dirty="0">
                <a:solidFill>
                  <a:srgbClr val="0E7C71"/>
                </a:solidFill>
                <a:latin typeface="Courier New" pitchFamily="34" charset="0"/>
                <a:ea typeface="Courier New" pitchFamily="34" charset="-122"/>
                <a:cs typeface="Courier New" pitchFamily="34" charset="-120"/>
              </a:rPr>
              <a:t>BEST FOR</a:t>
            </a:r>
            <a:endParaRPr lang="en-US" sz="1575" dirty="0"/>
          </a:p>
        </p:txBody>
      </p:sp>
      <p:sp>
        <p:nvSpPr>
          <p:cNvPr id="37" name="Text 35"/>
          <p:cNvSpPr/>
          <p:nvPr/>
        </p:nvSpPr>
        <p:spPr>
          <a:xfrm>
            <a:off x="12415838" y="8115821"/>
            <a:ext cx="4976813" cy="385242"/>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1C3A36"/>
                </a:solidFill>
                <a:latin typeface="Arial" pitchFamily="34" charset="0"/>
                <a:ea typeface="Arial" pitchFamily="34" charset="-122"/>
                <a:cs typeface="Arial" pitchFamily="34" charset="-120"/>
              </a:rPr>
              <a:t>Diagnostics and fast changeover</a:t>
            </a:r>
            <a:endParaRPr lang="en-US" sz="2025" dirty="0"/>
          </a:p>
        </p:txBody>
      </p:sp>
      <p:sp>
        <p:nvSpPr>
          <p:cNvPr id="38" name="Shape 36"/>
          <p:cNvSpPr/>
          <p:nvPr/>
        </p:nvSpPr>
        <p:spPr>
          <a:xfrm>
            <a:off x="990600" y="9239250"/>
            <a:ext cx="16306800" cy="9525"/>
          </a:xfrm>
          <a:prstGeom prst="rect">
            <a:avLst/>
          </a:prstGeom>
          <a:solidFill>
            <a:srgbClr val="DCE4ED"/>
          </a:solidFill>
          <a:ln/>
        </p:spPr>
      </p:sp>
      <p:sp>
        <p:nvSpPr>
          <p:cNvPr id="39" name="Text 37"/>
          <p:cNvSpPr/>
          <p:nvPr/>
        </p:nvSpPr>
        <p:spPr>
          <a:xfrm>
            <a:off x="990600" y="9420225"/>
            <a:ext cx="6292803" cy="333375"/>
          </a:xfrm>
          <a:prstGeom prst="rect">
            <a:avLst/>
          </a:prstGeom>
          <a:noFill/>
          <a:ln/>
        </p:spPr>
        <p:txBody>
          <a:bodyPr wrap="square" lIns="25400" tIns="25400" rIns="25400" bIns="25400" rtlCol="0" anchor="t">
            <a:normAutofit/>
          </a:bodyPr>
          <a:lstStyle/>
          <a:p>
            <a:r>
              <a:rPr lang="en-US" kern="0" spc="75">
                <a:solidFill>
                  <a:srgbClr val="7B8794"/>
                </a:solidFill>
                <a:latin typeface="Courier New"/>
                <a:ea typeface="Courier New" pitchFamily="34" charset="-122"/>
                <a:cs typeface="Courier New"/>
              </a:rPr>
              <a:t>Industrial Communication Standards</a:t>
            </a:r>
            <a:r>
              <a:rPr lang="en-US" kern="0" spc="75" dirty="0">
                <a:solidFill>
                  <a:srgbClr val="9AA8B6"/>
                </a:solidFill>
                <a:latin typeface="Courier New"/>
                <a:ea typeface="Courier New" pitchFamily="34" charset="-122"/>
                <a:cs typeface="Courier New"/>
              </a:rPr>
              <a:t> </a:t>
            </a:r>
            <a:r>
              <a:rPr lang="en-US" sz="1800" kern="0" spc="75" dirty="0">
                <a:solidFill>
                  <a:srgbClr val="9AA8B6"/>
                </a:solidFill>
                <a:latin typeface="Courier New"/>
                <a:ea typeface="Courier New" pitchFamily="34" charset="-122"/>
                <a:cs typeface="Courier New"/>
              </a:rPr>
              <a:t>HSHL</a:t>
            </a:r>
            <a:endParaRPr lang="en-US" sz="1800" dirty="0">
              <a:latin typeface="Courier New"/>
              <a:cs typeface="Courier New"/>
            </a:endParaRPr>
          </a:p>
        </p:txBody>
      </p:sp>
      <p:sp>
        <p:nvSpPr>
          <p:cNvPr id="40" name="Text 38"/>
          <p:cNvSpPr/>
          <p:nvPr/>
        </p:nvSpPr>
        <p:spPr>
          <a:xfrm>
            <a:off x="16270560" y="9420225"/>
            <a:ext cx="1103040" cy="333375"/>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9AA8B6"/>
                </a:solidFill>
                <a:latin typeface="Courier New" pitchFamily="34" charset="0"/>
                <a:ea typeface="Courier New" pitchFamily="34" charset="-122"/>
                <a:cs typeface="Courier New" pitchFamily="34" charset="-120"/>
              </a:rPr>
              <a:t>11 / 12</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E2230">
                  <a:alpha val="100000"/>
                </a:srgbClr>
              </a:gs>
              <a:gs pos="55000">
                <a:srgbClr val="102033">
                  <a:alpha val="100000"/>
                </a:srgbClr>
              </a:gs>
              <a:gs pos="100000">
                <a:srgbClr val="0C2A28">
                  <a:alpha val="100000"/>
                </a:srgbClr>
              </a:gs>
            </a:gsLst>
            <a:lin ang="3600000" scaled="0"/>
          </a:gradFill>
          <a:ln/>
        </p:spPr>
      </p:sp>
      <p:sp>
        <p:nvSpPr>
          <p:cNvPr id="3" name="Shape 1"/>
          <p:cNvSpPr/>
          <p:nvPr/>
        </p:nvSpPr>
        <p:spPr>
          <a:xfrm>
            <a:off x="14287500" y="-1524000"/>
            <a:ext cx="5334000" cy="5334000"/>
          </a:xfrm>
          <a:prstGeom prst="ellipse">
            <a:avLst/>
          </a:prstGeom>
          <a:solidFill>
            <a:srgbClr val="12A594">
              <a:alpha val="16000"/>
            </a:srgbClr>
          </a:solidFill>
          <a:ln/>
        </p:spPr>
      </p:sp>
      <p:sp>
        <p:nvSpPr>
          <p:cNvPr id="4" name="Text 2"/>
          <p:cNvSpPr/>
          <p:nvPr/>
        </p:nvSpPr>
        <p:spPr>
          <a:xfrm>
            <a:off x="1047750" y="914400"/>
            <a:ext cx="17811750" cy="333375"/>
          </a:xfrm>
          <a:prstGeom prst="rect">
            <a:avLst/>
          </a:prstGeom>
          <a:noFill/>
          <a:ln/>
        </p:spPr>
        <p:txBody>
          <a:bodyPr wrap="square" lIns="25400" tIns="25400" rIns="25400" bIns="25400" rtlCol="0" anchor="t">
            <a:normAutofit/>
          </a:bodyPr>
          <a:lstStyle/>
          <a:p>
            <a:pPr marL="0" indent="0" algn="l">
              <a:buNone/>
            </a:pPr>
            <a:r>
              <a:rPr lang="en-US" sz="1800" kern="0" spc="263" dirty="0">
                <a:solidFill>
                  <a:srgbClr val="5FD7C6"/>
                </a:solidFill>
                <a:latin typeface="Courier New" pitchFamily="34" charset="0"/>
                <a:ea typeface="Courier New" pitchFamily="34" charset="-122"/>
                <a:cs typeface="Courier New" pitchFamily="34" charset="-120"/>
              </a:rPr>
              <a:t>CONCLUSION</a:t>
            </a:r>
            <a:endParaRPr lang="en-US" sz="1800" dirty="0"/>
          </a:p>
        </p:txBody>
      </p:sp>
      <p:sp>
        <p:nvSpPr>
          <p:cNvPr id="5" name="Text 3"/>
          <p:cNvSpPr/>
          <p:nvPr/>
        </p:nvSpPr>
        <p:spPr>
          <a:xfrm>
            <a:off x="1047750" y="1343025"/>
            <a:ext cx="15506700" cy="608781"/>
          </a:xfrm>
          <a:prstGeom prst="rect">
            <a:avLst/>
          </a:prstGeom>
          <a:noFill/>
          <a:ln/>
        </p:spPr>
        <p:txBody>
          <a:bodyPr wrap="square" lIns="25400" tIns="25400" rIns="25400" bIns="25400" rtlCol="0" anchor="t">
            <a:normAutofit/>
          </a:bodyPr>
          <a:lstStyle/>
          <a:p>
            <a:pPr marL="0" indent="0" algn="l">
              <a:lnSpc>
                <a:spcPct val="107000"/>
              </a:lnSpc>
              <a:buNone/>
            </a:pPr>
            <a:r>
              <a:rPr lang="en-US" sz="4200" b="1" kern="0" spc="-37" dirty="0">
                <a:solidFill>
                  <a:srgbClr val="FFFFFF"/>
                </a:solidFill>
                <a:latin typeface="Arial" pitchFamily="34" charset="0"/>
                <a:ea typeface="Arial" pitchFamily="34" charset="-122"/>
                <a:cs typeface="Arial" pitchFamily="34" charset="-120"/>
              </a:rPr>
              <a:t>IO-Link is a smart last meter, not a fieldbus</a:t>
            </a:r>
            <a:endParaRPr lang="en-US" sz="4200" dirty="0"/>
          </a:p>
        </p:txBody>
      </p:sp>
      <p:sp>
        <p:nvSpPr>
          <p:cNvPr id="6" name="Text 4"/>
          <p:cNvSpPr/>
          <p:nvPr/>
        </p:nvSpPr>
        <p:spPr>
          <a:xfrm>
            <a:off x="1047750" y="4382988"/>
            <a:ext cx="319906"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b="1" dirty="0">
                <a:solidFill>
                  <a:srgbClr val="5FD7C6"/>
                </a:solidFill>
                <a:latin typeface="Arial" pitchFamily="34" charset="0"/>
                <a:ea typeface="Arial" pitchFamily="34" charset="-122"/>
                <a:cs typeface="Arial" pitchFamily="34" charset="-120"/>
              </a:rPr>
              <a:t>1</a:t>
            </a:r>
            <a:endParaRPr lang="en-US" sz="3450" dirty="0"/>
          </a:p>
        </p:txBody>
      </p:sp>
      <p:sp>
        <p:nvSpPr>
          <p:cNvPr id="7" name="Text 5"/>
          <p:cNvSpPr/>
          <p:nvPr/>
        </p:nvSpPr>
        <p:spPr>
          <a:xfrm>
            <a:off x="1520056" y="4382988"/>
            <a:ext cx="7577961" cy="864840"/>
          </a:xfrm>
          <a:prstGeom prst="rect">
            <a:avLst/>
          </a:prstGeom>
          <a:noFill/>
          <a:ln/>
        </p:spPr>
        <p:txBody>
          <a:bodyPr wrap="square" lIns="25400" tIns="25400" rIns="25400" bIns="25400" rtlCol="0" anchor="t">
            <a:normAutofit/>
          </a:bodyPr>
          <a:lstStyle/>
          <a:p>
            <a:pPr marL="0" indent="0" algn="l">
              <a:lnSpc>
                <a:spcPct val="140000"/>
              </a:lnSpc>
              <a:buNone/>
            </a:pPr>
            <a:r>
              <a:rPr lang="en-US" sz="2325" dirty="0">
                <a:solidFill>
                  <a:srgbClr val="D6E0EA"/>
                </a:solidFill>
                <a:latin typeface="Arial" pitchFamily="34" charset="0"/>
                <a:ea typeface="Arial" pitchFamily="34" charset="-122"/>
                <a:cs typeface="Arial" pitchFamily="34" charset="-120"/>
              </a:rPr>
              <a:t>Adds identity, parameters, and diagnostics to a familiar 3-wire 24 V link.</a:t>
            </a:r>
            <a:endParaRPr lang="en-US" sz="2325" dirty="0"/>
          </a:p>
        </p:txBody>
      </p:sp>
      <p:sp>
        <p:nvSpPr>
          <p:cNvPr id="8" name="Text 6"/>
          <p:cNvSpPr/>
          <p:nvPr/>
        </p:nvSpPr>
        <p:spPr>
          <a:xfrm>
            <a:off x="9410700" y="4382988"/>
            <a:ext cx="319906"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b="1" dirty="0">
                <a:solidFill>
                  <a:srgbClr val="5FD7C6"/>
                </a:solidFill>
                <a:latin typeface="Arial" pitchFamily="34" charset="0"/>
                <a:ea typeface="Arial" pitchFamily="34" charset="-122"/>
                <a:cs typeface="Arial" pitchFamily="34" charset="-120"/>
              </a:rPr>
              <a:t>2</a:t>
            </a:r>
            <a:endParaRPr lang="en-US" sz="3450" dirty="0"/>
          </a:p>
        </p:txBody>
      </p:sp>
      <p:sp>
        <p:nvSpPr>
          <p:cNvPr id="9" name="Text 7"/>
          <p:cNvSpPr/>
          <p:nvPr/>
        </p:nvSpPr>
        <p:spPr>
          <a:xfrm>
            <a:off x="9883006" y="4382988"/>
            <a:ext cx="7577961" cy="864840"/>
          </a:xfrm>
          <a:prstGeom prst="rect">
            <a:avLst/>
          </a:prstGeom>
          <a:noFill/>
          <a:ln/>
        </p:spPr>
        <p:txBody>
          <a:bodyPr wrap="square" lIns="25400" tIns="25400" rIns="25400" bIns="25400" rtlCol="0" anchor="t">
            <a:normAutofit/>
          </a:bodyPr>
          <a:lstStyle/>
          <a:p>
            <a:pPr marL="0" indent="0" algn="l">
              <a:lnSpc>
                <a:spcPct val="140000"/>
              </a:lnSpc>
              <a:buNone/>
            </a:pPr>
            <a:r>
              <a:rPr lang="en-US" sz="2325" dirty="0">
                <a:solidFill>
                  <a:srgbClr val="D6E0EA"/>
                </a:solidFill>
                <a:latin typeface="Arial" pitchFamily="34" charset="0"/>
                <a:ea typeface="Arial" pitchFamily="34" charset="-122"/>
                <a:cs typeface="Arial" pitchFamily="34" charset="-120"/>
              </a:rPr>
              <a:t>Use it when setup, diagnosis, or replacement downtime is the real cost.</a:t>
            </a:r>
            <a:endParaRPr lang="en-US" sz="2325" dirty="0"/>
          </a:p>
        </p:txBody>
      </p:sp>
      <p:sp>
        <p:nvSpPr>
          <p:cNvPr id="10" name="Text 8"/>
          <p:cNvSpPr/>
          <p:nvPr/>
        </p:nvSpPr>
        <p:spPr>
          <a:xfrm>
            <a:off x="1047750" y="5457379"/>
            <a:ext cx="319906"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b="1" dirty="0">
                <a:solidFill>
                  <a:srgbClr val="5FD7C6"/>
                </a:solidFill>
                <a:latin typeface="Arial" pitchFamily="34" charset="0"/>
                <a:ea typeface="Arial" pitchFamily="34" charset="-122"/>
                <a:cs typeface="Arial" pitchFamily="34" charset="-120"/>
              </a:rPr>
              <a:t>3</a:t>
            </a:r>
            <a:endParaRPr lang="en-US" sz="3450" dirty="0"/>
          </a:p>
        </p:txBody>
      </p:sp>
      <p:sp>
        <p:nvSpPr>
          <p:cNvPr id="11" name="Text 9"/>
          <p:cNvSpPr/>
          <p:nvPr/>
        </p:nvSpPr>
        <p:spPr>
          <a:xfrm>
            <a:off x="1520056" y="5457379"/>
            <a:ext cx="7577961" cy="864840"/>
          </a:xfrm>
          <a:prstGeom prst="rect">
            <a:avLst/>
          </a:prstGeom>
          <a:noFill/>
          <a:ln/>
        </p:spPr>
        <p:txBody>
          <a:bodyPr wrap="square" lIns="25400" tIns="25400" rIns="25400" bIns="25400" rtlCol="0" anchor="t">
            <a:normAutofit/>
          </a:bodyPr>
          <a:lstStyle/>
          <a:p>
            <a:pPr marL="0" indent="0" algn="l">
              <a:lnSpc>
                <a:spcPct val="140000"/>
              </a:lnSpc>
              <a:buNone/>
            </a:pPr>
            <a:r>
              <a:rPr lang="en-US" sz="2325" dirty="0">
                <a:solidFill>
                  <a:srgbClr val="D6E0EA"/>
                </a:solidFill>
                <a:latin typeface="Arial" pitchFamily="34" charset="0"/>
                <a:ea typeface="Arial" pitchFamily="34" charset="-122"/>
                <a:cs typeface="Arial" pitchFamily="34" charset="-120"/>
              </a:rPr>
              <a:t>Validate timing across device, master, fieldbus, and PLC scan.</a:t>
            </a:r>
            <a:endParaRPr lang="en-US" sz="2325" dirty="0"/>
          </a:p>
        </p:txBody>
      </p:sp>
      <p:sp>
        <p:nvSpPr>
          <p:cNvPr id="12" name="Text 10"/>
          <p:cNvSpPr/>
          <p:nvPr/>
        </p:nvSpPr>
        <p:spPr>
          <a:xfrm>
            <a:off x="9410700" y="5457379"/>
            <a:ext cx="319906"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b="1" dirty="0">
                <a:solidFill>
                  <a:srgbClr val="5FD7C6"/>
                </a:solidFill>
                <a:latin typeface="Arial" pitchFamily="34" charset="0"/>
                <a:ea typeface="Arial" pitchFamily="34" charset="-122"/>
                <a:cs typeface="Arial" pitchFamily="34" charset="-120"/>
              </a:rPr>
              <a:t>4</a:t>
            </a:r>
            <a:endParaRPr lang="en-US" sz="3450" dirty="0"/>
          </a:p>
        </p:txBody>
      </p:sp>
      <p:sp>
        <p:nvSpPr>
          <p:cNvPr id="13" name="Text 11"/>
          <p:cNvSpPr/>
          <p:nvPr/>
        </p:nvSpPr>
        <p:spPr>
          <a:xfrm>
            <a:off x="9883006" y="5457379"/>
            <a:ext cx="7070675" cy="451470"/>
          </a:xfrm>
          <a:prstGeom prst="rect">
            <a:avLst/>
          </a:prstGeom>
          <a:noFill/>
          <a:ln/>
        </p:spPr>
        <p:txBody>
          <a:bodyPr wrap="square" lIns="25400" tIns="25400" rIns="25400" bIns="25400" rtlCol="0" anchor="t">
            <a:normAutofit/>
          </a:bodyPr>
          <a:lstStyle/>
          <a:p>
            <a:pPr marL="0" indent="0" algn="l">
              <a:lnSpc>
                <a:spcPct val="140000"/>
              </a:lnSpc>
              <a:buNone/>
            </a:pPr>
            <a:r>
              <a:rPr lang="en-US" sz="2325" dirty="0">
                <a:solidFill>
                  <a:srgbClr val="D6E0EA"/>
                </a:solidFill>
                <a:latin typeface="Arial" pitchFamily="34" charset="0"/>
                <a:ea typeface="Arial" pitchFamily="34" charset="-122"/>
                <a:cs typeface="Arial" pitchFamily="34" charset="-120"/>
              </a:rPr>
              <a:t>Handle security at the system and network level.</a:t>
            </a:r>
            <a:endParaRPr lang="en-US" sz="2325" dirty="0"/>
          </a:p>
        </p:txBody>
      </p:sp>
      <p:sp>
        <p:nvSpPr>
          <p:cNvPr id="14" name="Shape 12"/>
          <p:cNvSpPr/>
          <p:nvPr/>
        </p:nvSpPr>
        <p:spPr>
          <a:xfrm>
            <a:off x="1047750" y="8753475"/>
            <a:ext cx="16192500" cy="9525"/>
          </a:xfrm>
          <a:prstGeom prst="rect">
            <a:avLst/>
          </a:prstGeom>
          <a:solidFill>
            <a:srgbClr val="FFFFFF">
              <a:alpha val="16000"/>
            </a:srgbClr>
          </a:solidFill>
          <a:ln/>
        </p:spPr>
      </p:sp>
      <p:sp>
        <p:nvSpPr>
          <p:cNvPr id="15" name="Text 13"/>
          <p:cNvSpPr/>
          <p:nvPr/>
        </p:nvSpPr>
        <p:spPr>
          <a:xfrm>
            <a:off x="1047750" y="9182100"/>
            <a:ext cx="4426334" cy="476250"/>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Arial" pitchFamily="34" charset="0"/>
                <a:ea typeface="Arial" pitchFamily="34" charset="-122"/>
                <a:cs typeface="Arial" pitchFamily="34" charset="-120"/>
              </a:rPr>
              <a:t>Thank you. Questions?</a:t>
            </a:r>
            <a:endParaRPr lang="en-US" sz="3000" dirty="0"/>
          </a:p>
        </p:txBody>
      </p:sp>
      <p:sp>
        <p:nvSpPr>
          <p:cNvPr id="16" name="Text 14"/>
          <p:cNvSpPr/>
          <p:nvPr/>
        </p:nvSpPr>
        <p:spPr>
          <a:xfrm>
            <a:off x="11097526" y="9029700"/>
            <a:ext cx="6142724" cy="628650"/>
          </a:xfrm>
          <a:prstGeom prst="rect">
            <a:avLst/>
          </a:prstGeom>
          <a:noFill/>
          <a:ln/>
        </p:spPr>
        <p:txBody>
          <a:bodyPr wrap="square" lIns="25400" tIns="25400" rIns="25400" bIns="25400" rtlCol="0" anchor="t">
            <a:normAutofit/>
          </a:bodyPr>
          <a:lstStyle/>
          <a:p>
            <a:pPr algn="r"/>
            <a:r>
              <a:rPr lang="en-US" kern="0" spc="75">
                <a:solidFill>
                  <a:srgbClr val="8FA0AE"/>
                </a:solidFill>
                <a:latin typeface="Courier New"/>
                <a:ea typeface="Courier New" pitchFamily="34" charset="-122"/>
                <a:cs typeface="Courier New"/>
              </a:rPr>
              <a:t>Industrial Communication Standards </a:t>
            </a:r>
            <a:r>
              <a:rPr lang="en-US" sz="1800" kern="0" spc="75">
                <a:solidFill>
                  <a:srgbClr val="8FA0AE"/>
                </a:solidFill>
                <a:latin typeface="Courier New"/>
                <a:ea typeface="Courier New" pitchFamily="34" charset="-122"/>
                <a:cs typeface="Courier New"/>
              </a:rPr>
              <a:t>· HSHL </a:t>
            </a:r>
            <a:r>
              <a:rPr lang="en-US" sz="1800" kern="0" spc="75" dirty="0">
                <a:solidFill>
                  <a:srgbClr val="8FA0AE"/>
                </a:solidFill>
                <a:latin typeface="Courier New"/>
                <a:ea typeface="Courier New" pitchFamily="34" charset="-122"/>
                <a:cs typeface="Courier New"/>
              </a:rPr>
              <a:t>12 / 12</a:t>
            </a:r>
            <a:endParaRPr lang="en-US" sz="1800">
              <a:latin typeface="Courier New"/>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40</cp:revision>
  <dcterms:created xsi:type="dcterms:W3CDTF">2026-06-30T23:36:06Z</dcterms:created>
  <dcterms:modified xsi:type="dcterms:W3CDTF">2026-07-01T01:42:41Z</dcterms:modified>
</cp:coreProperties>
</file>